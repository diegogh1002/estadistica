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Poppins Ultra-Bold" charset="1" panose="00000900000000000000"/>
      <p:regular r:id="rId44"/>
    </p:embeddedFont>
    <p:embeddedFont>
      <p:font typeface="Poppins Bold" charset="1" panose="00000800000000000000"/>
      <p:regular r:id="rId45"/>
    </p:embeddedFont>
    <p:embeddedFont>
      <p:font typeface="Poppins" charset="1" panose="00000500000000000000"/>
      <p:regular r:id="rId46"/>
    </p:embeddedFont>
    <p:embeddedFont>
      <p:font typeface="Poppins Medium" charset="1" panose="00000600000000000000"/>
      <p:regular r:id="rId47"/>
    </p:embeddedFont>
    <p:embeddedFont>
      <p:font typeface="Open Sans Bold" charset="1" panose="020B0806030504020204"/>
      <p:regular r:id="rId48"/>
    </p:embeddedFont>
    <p:embeddedFont>
      <p:font typeface="Open Sans" charset="1" panose="020B0606030504020204"/>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6.xml.rels><?xml version="1.0" encoding="UTF-8"?><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7.xml.rels><?xml version="1.0" encoding="UTF-8"?><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8.xml.rels><?xml version="1.0" encoding="UTF-8"?><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9.xml.rels><?xml version="1.0" encoding="UTF-8"?><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21.xml.rels><?xml version="1.0" encoding="UTF-8"?><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2.xml.rels><?xml version="1.0" encoding="UTF-8"?><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5.xml.rels><?xml version="1.0" encoding="UTF-8"?><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6.xml.rels><?xml version="1.0" encoding="UTF-8"?><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7.xml.rels><?xml version="1.0" encoding="UTF-8"?><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8.xml.rels><?xml version="1.0" encoding="UTF-8"?><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9.xml.rels><?xml version="1.0" encoding="UTF-8"?><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0.xml.rels><?xml version="1.0" encoding="UTF-8"?><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2.xml.rels><?xml version="1.0" encoding="UTF-8"?><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3.xml.rels><?xml version="1.0" encoding="UTF-8"?><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4.xml.rels><?xml version="1.0" encoding="UTF-8"?><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5.xml.rels><?xml version="1.0" encoding="UTF-8"?><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6.xml.rels><?xml version="1.0" encoding="UTF-8"?><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7.xml.rels><?xml version="1.0" encoding="UTF-8"?><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028700" y="3893555"/>
            <a:ext cx="9883338" cy="4946649"/>
          </a:xfrm>
          <a:prstGeom prst="rect">
            <a:avLst/>
          </a:prstGeom>
        </p:spPr>
        <p:txBody>
          <a:bodyPr anchor="t" rtlCol="false" tIns="0" lIns="0" bIns="0" rIns="0">
            <a:spAutoFit/>
          </a:bodyPr>
          <a:lstStyle/>
          <a:p>
            <a:pPr algn="l">
              <a:lnSpc>
                <a:spcPts val="17599"/>
              </a:lnSpc>
            </a:pPr>
            <a:r>
              <a:rPr lang="en-US" b="true" sz="21999" spc="-2287">
                <a:solidFill>
                  <a:srgbClr val="D5D5D5"/>
                </a:solidFill>
                <a:latin typeface="Poppins Ultra-Bold"/>
                <a:ea typeface="Poppins Ultra-Bold"/>
                <a:cs typeface="Poppins Ultra-Bold"/>
                <a:sym typeface="Poppins Ultra-Bold"/>
              </a:rPr>
              <a:t>ESTADÍSTICA</a:t>
            </a:r>
          </a:p>
        </p:txBody>
      </p:sp>
      <p:sp>
        <p:nvSpPr>
          <p:cNvPr name="Freeform 3" id="3"/>
          <p:cNvSpPr/>
          <p:nvPr/>
        </p:nvSpPr>
        <p:spPr>
          <a:xfrm flipH="false" flipV="false" rot="0">
            <a:off x="1028700" y="1258353"/>
            <a:ext cx="1985978" cy="2126884"/>
          </a:xfrm>
          <a:custGeom>
            <a:avLst/>
            <a:gdLst/>
            <a:ahLst/>
            <a:cxnLst/>
            <a:rect r="r" b="b" t="t" l="l"/>
            <a:pathLst>
              <a:path h="2126884" w="1985978">
                <a:moveTo>
                  <a:pt x="0" y="0"/>
                </a:moveTo>
                <a:lnTo>
                  <a:pt x="1985978" y="0"/>
                </a:lnTo>
                <a:lnTo>
                  <a:pt x="1985978" y="2126884"/>
                </a:lnTo>
                <a:lnTo>
                  <a:pt x="0" y="2126884"/>
                </a:lnTo>
                <a:lnTo>
                  <a:pt x="0" y="0"/>
                </a:lnTo>
                <a:close/>
              </a:path>
            </a:pathLst>
          </a:custGeom>
          <a:blipFill>
            <a:blip r:embed="rId2"/>
            <a:stretch>
              <a:fillRect l="0" t="0" r="0" b="0"/>
            </a:stretch>
          </a:blipFill>
        </p:spPr>
      </p:sp>
      <p:sp>
        <p:nvSpPr>
          <p:cNvPr name="Freeform 4" id="4"/>
          <p:cNvSpPr/>
          <p:nvPr/>
        </p:nvSpPr>
        <p:spPr>
          <a:xfrm flipH="false" flipV="false" rot="0">
            <a:off x="14238422" y="1556114"/>
            <a:ext cx="3020878" cy="1539297"/>
          </a:xfrm>
          <a:custGeom>
            <a:avLst/>
            <a:gdLst/>
            <a:ahLst/>
            <a:cxnLst/>
            <a:rect r="r" b="b" t="t" l="l"/>
            <a:pathLst>
              <a:path h="1539297" w="3020878">
                <a:moveTo>
                  <a:pt x="0" y="0"/>
                </a:moveTo>
                <a:lnTo>
                  <a:pt x="3020878" y="0"/>
                </a:lnTo>
                <a:lnTo>
                  <a:pt x="3020878" y="1539296"/>
                </a:lnTo>
                <a:lnTo>
                  <a:pt x="0" y="1539296"/>
                </a:lnTo>
                <a:lnTo>
                  <a:pt x="0" y="0"/>
                </a:lnTo>
                <a:close/>
              </a:path>
            </a:pathLst>
          </a:custGeom>
          <a:blipFill>
            <a:blip r:embed="rId3"/>
            <a:stretch>
              <a:fillRect l="0" t="-5195" r="0" b="-5195"/>
            </a:stretch>
          </a:blipFill>
        </p:spPr>
      </p:sp>
      <p:sp>
        <p:nvSpPr>
          <p:cNvPr name="TextBox 5" id="5"/>
          <p:cNvSpPr txBox="true"/>
          <p:nvPr/>
        </p:nvSpPr>
        <p:spPr>
          <a:xfrm rot="0">
            <a:off x="4587453" y="1720635"/>
            <a:ext cx="8078195" cy="1374775"/>
          </a:xfrm>
          <a:prstGeom prst="rect">
            <a:avLst/>
          </a:prstGeom>
        </p:spPr>
        <p:txBody>
          <a:bodyPr anchor="t" rtlCol="false" tIns="0" lIns="0" bIns="0" rIns="0">
            <a:spAutoFit/>
          </a:bodyPr>
          <a:lstStyle/>
          <a:p>
            <a:pPr algn="r">
              <a:lnSpc>
                <a:spcPts val="3500"/>
              </a:lnSpc>
            </a:pPr>
            <a:r>
              <a:rPr lang="en-US" b="true" sz="3500" spc="-210">
                <a:solidFill>
                  <a:srgbClr val="D5D5D5"/>
                </a:solidFill>
                <a:latin typeface="Poppins Bold"/>
                <a:ea typeface="Poppins Bold"/>
                <a:cs typeface="Poppins Bold"/>
                <a:sym typeface="Poppins Bold"/>
              </a:rPr>
              <a:t>Presentacion Analisis Estadistico de Encuesta a Alumnos de ESCOM sobre su Dispositivo Movil</a:t>
            </a:r>
          </a:p>
        </p:txBody>
      </p:sp>
      <p:sp>
        <p:nvSpPr>
          <p:cNvPr name="TextBox 6" id="6"/>
          <p:cNvSpPr txBox="true"/>
          <p:nvPr/>
        </p:nvSpPr>
        <p:spPr>
          <a:xfrm rot="0">
            <a:off x="11243084" y="3283955"/>
            <a:ext cx="2845127" cy="221615"/>
          </a:xfrm>
          <a:prstGeom prst="rect">
            <a:avLst/>
          </a:prstGeom>
        </p:spPr>
        <p:txBody>
          <a:bodyPr anchor="t" rtlCol="false" tIns="0" lIns="0" bIns="0" rIns="0">
            <a:spAutoFit/>
          </a:bodyPr>
          <a:lstStyle/>
          <a:p>
            <a:pPr algn="r">
              <a:lnSpc>
                <a:spcPts val="1599"/>
              </a:lnSpc>
            </a:pPr>
            <a:r>
              <a:rPr lang="en-US" sz="1599" spc="-95">
                <a:solidFill>
                  <a:srgbClr val="D5D5D5"/>
                </a:solidFill>
                <a:latin typeface="Poppins"/>
                <a:ea typeface="Poppins"/>
                <a:cs typeface="Poppins"/>
                <a:sym typeface="Poppins"/>
              </a:rPr>
              <a:t>13 de Abril del 2026</a:t>
            </a:r>
          </a:p>
        </p:txBody>
      </p:sp>
      <p:sp>
        <p:nvSpPr>
          <p:cNvPr name="TextBox 7" id="7"/>
          <p:cNvSpPr txBox="true"/>
          <p:nvPr/>
        </p:nvSpPr>
        <p:spPr>
          <a:xfrm rot="0">
            <a:off x="9281217" y="8185150"/>
            <a:ext cx="11561949" cy="1073150"/>
          </a:xfrm>
          <a:prstGeom prst="rect">
            <a:avLst/>
          </a:prstGeom>
        </p:spPr>
        <p:txBody>
          <a:bodyPr anchor="t" rtlCol="false" tIns="0" lIns="0" bIns="0" rIns="0">
            <a:spAutoFit/>
          </a:bodyPr>
          <a:lstStyle/>
          <a:p>
            <a:pPr algn="l">
              <a:lnSpc>
                <a:spcPts val="3999"/>
              </a:lnSpc>
            </a:pPr>
            <a:r>
              <a:rPr lang="en-US" sz="3999" spc="-79">
                <a:solidFill>
                  <a:srgbClr val="D5D5D5"/>
                </a:solidFill>
                <a:latin typeface="Poppins"/>
                <a:ea typeface="Poppins"/>
                <a:cs typeface="Poppins"/>
                <a:sym typeface="Poppins"/>
              </a:rPr>
              <a:t xml:space="preserve">Santiago Sánchez Sánchez </a:t>
            </a:r>
          </a:p>
          <a:p>
            <a:pPr algn="l">
              <a:lnSpc>
                <a:spcPts val="3999"/>
              </a:lnSpc>
            </a:pPr>
            <a:r>
              <a:rPr lang="en-US" sz="3999" spc="-79">
                <a:solidFill>
                  <a:srgbClr val="D5D5D5"/>
                </a:solidFill>
                <a:latin typeface="Poppins"/>
                <a:ea typeface="Poppins"/>
                <a:cs typeface="Poppins"/>
                <a:sym typeface="Poppins"/>
              </a:rPr>
              <a:t>Diego Guzmán Hernández</a:t>
            </a:r>
          </a:p>
        </p:txBody>
      </p:sp>
      <p:sp>
        <p:nvSpPr>
          <p:cNvPr name="TextBox 8" id="8"/>
          <p:cNvSpPr txBox="true"/>
          <p:nvPr/>
        </p:nvSpPr>
        <p:spPr>
          <a:xfrm rot="0">
            <a:off x="7731061" y="6211256"/>
            <a:ext cx="6361954" cy="1231899"/>
          </a:xfrm>
          <a:prstGeom prst="rect">
            <a:avLst/>
          </a:prstGeom>
        </p:spPr>
        <p:txBody>
          <a:bodyPr anchor="t" rtlCol="false" tIns="0" lIns="0" bIns="0" rIns="0">
            <a:spAutoFit/>
          </a:bodyPr>
          <a:lstStyle/>
          <a:p>
            <a:pPr algn="l">
              <a:lnSpc>
                <a:spcPts val="7999"/>
              </a:lnSpc>
            </a:pPr>
            <a:r>
              <a:rPr lang="en-US" b="true" sz="9999" spc="-1039">
                <a:solidFill>
                  <a:srgbClr val="D5D5D5"/>
                </a:solidFill>
                <a:latin typeface="Poppins Ultra-Bold"/>
                <a:ea typeface="Poppins Ultra-Bold"/>
                <a:cs typeface="Poppins Ultra-Bold"/>
                <a:sym typeface="Poppins Ultra-Bold"/>
              </a:rPr>
              <a:t>PROYECTO</a:t>
            </a:r>
          </a:p>
        </p:txBody>
      </p:sp>
      <p:sp>
        <p:nvSpPr>
          <p:cNvPr name="TextBox 9" id="9"/>
          <p:cNvSpPr txBox="true"/>
          <p:nvPr/>
        </p:nvSpPr>
        <p:spPr>
          <a:xfrm rot="0">
            <a:off x="14414173" y="1098016"/>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344562" y="1304925"/>
            <a:ext cx="5801941" cy="11830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INDICE</a:t>
            </a:r>
          </a:p>
        </p:txBody>
      </p:sp>
      <p:sp>
        <p:nvSpPr>
          <p:cNvPr name="TextBox 3" id="3"/>
          <p:cNvSpPr txBox="true"/>
          <p:nvPr/>
        </p:nvSpPr>
        <p:spPr>
          <a:xfrm rot="0">
            <a:off x="1751484" y="3767180"/>
            <a:ext cx="8115300" cy="27940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-Feature Engineering...PAG5</a:t>
            </a:r>
          </a:p>
        </p:txBody>
      </p:sp>
      <p:sp>
        <p:nvSpPr>
          <p:cNvPr name="TextBox 4" id="4"/>
          <p:cNvSpPr txBox="true"/>
          <p:nvPr/>
        </p:nvSpPr>
        <p:spPr>
          <a:xfrm rot="0">
            <a:off x="1028700" y="2592705"/>
            <a:ext cx="6117803" cy="44005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INTRODUCCION....PAG 3</a:t>
            </a:r>
          </a:p>
        </p:txBody>
      </p:sp>
      <p:sp>
        <p:nvSpPr>
          <p:cNvPr name="TextBox 5" id="5"/>
          <p:cNvSpPr txBox="true"/>
          <p:nvPr/>
        </p:nvSpPr>
        <p:spPr>
          <a:xfrm rot="0">
            <a:off x="1028700" y="4203425"/>
            <a:ext cx="8353946" cy="44005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ESTADISTICA DESCRIPTIVA...PAG6</a:t>
            </a:r>
          </a:p>
        </p:txBody>
      </p:sp>
      <p:sp>
        <p:nvSpPr>
          <p:cNvPr name="TextBox 6" id="6"/>
          <p:cNvSpPr txBox="true"/>
          <p:nvPr/>
        </p:nvSpPr>
        <p:spPr>
          <a:xfrm rot="0">
            <a:off x="1028700" y="3222350"/>
            <a:ext cx="8838084" cy="44005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CARGA Y LIMPIEZA DE DATOS...PAG4</a:t>
            </a:r>
          </a:p>
        </p:txBody>
      </p:sp>
      <p:sp>
        <p:nvSpPr>
          <p:cNvPr name="TextBox 7" id="7"/>
          <p:cNvSpPr txBox="true"/>
          <p:nvPr/>
        </p:nvSpPr>
        <p:spPr>
          <a:xfrm rot="0">
            <a:off x="1028700" y="5184500"/>
            <a:ext cx="9454381" cy="44005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CENTRALIZACION Y DISPERSIÓN...PAG7</a:t>
            </a:r>
          </a:p>
        </p:txBody>
      </p:sp>
      <p:sp>
        <p:nvSpPr>
          <p:cNvPr name="TextBox 8" id="8"/>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a:t>
            </a:r>
          </a:p>
        </p:txBody>
      </p:sp>
      <p:sp>
        <p:nvSpPr>
          <p:cNvPr name="TextBox 9" id="9"/>
          <p:cNvSpPr txBox="true"/>
          <p:nvPr/>
        </p:nvSpPr>
        <p:spPr>
          <a:xfrm rot="0">
            <a:off x="1028700" y="6822799"/>
            <a:ext cx="11134651" cy="44005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HERRAMIENTAS GRAFICAS UTILIZADAS...PAG15</a:t>
            </a:r>
          </a:p>
        </p:txBody>
      </p:sp>
      <p:sp>
        <p:nvSpPr>
          <p:cNvPr name="TextBox 10" id="10"/>
          <p:cNvSpPr txBox="true"/>
          <p:nvPr/>
        </p:nvSpPr>
        <p:spPr>
          <a:xfrm rot="0">
            <a:off x="11913248" y="6335754"/>
            <a:ext cx="4883497" cy="80200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CONCLUSIONES...PAG37</a:t>
            </a:r>
          </a:p>
        </p:txBody>
      </p:sp>
      <p:sp>
        <p:nvSpPr>
          <p:cNvPr name="TextBox 11" id="11"/>
          <p:cNvSpPr txBox="true"/>
          <p:nvPr/>
        </p:nvSpPr>
        <p:spPr>
          <a:xfrm rot="0">
            <a:off x="11913248" y="1712467"/>
            <a:ext cx="5286152" cy="802005"/>
          </a:xfrm>
          <a:prstGeom prst="rect">
            <a:avLst/>
          </a:prstGeom>
        </p:spPr>
        <p:txBody>
          <a:bodyPr anchor="t" rtlCol="false" tIns="0" lIns="0" bIns="0" rIns="0">
            <a:spAutoFit/>
          </a:bodyPr>
          <a:lstStyle/>
          <a:p>
            <a:pPr algn="l" marL="777240" indent="-388620" lvl="1">
              <a:lnSpc>
                <a:spcPts val="2880"/>
              </a:lnSpc>
              <a:buFont typeface="Arial"/>
              <a:buChar char="•"/>
            </a:pPr>
            <a:r>
              <a:rPr lang="en-US" b="true" sz="3600" spc="-72">
                <a:solidFill>
                  <a:srgbClr val="D5D5D5"/>
                </a:solidFill>
                <a:latin typeface="Poppins Ultra-Bold"/>
                <a:ea typeface="Poppins Ultra-Bold"/>
                <a:cs typeface="Poppins Ultra-Bold"/>
                <a:sym typeface="Poppins Ultra-Bold"/>
              </a:rPr>
              <a:t>HIPOTESIS E INSIGHTS...PAG29</a:t>
            </a:r>
          </a:p>
        </p:txBody>
      </p:sp>
      <p:sp>
        <p:nvSpPr>
          <p:cNvPr name="TextBox 12" id="12"/>
          <p:cNvSpPr txBox="true"/>
          <p:nvPr/>
        </p:nvSpPr>
        <p:spPr>
          <a:xfrm rot="0">
            <a:off x="1751484" y="4748255"/>
            <a:ext cx="8115300" cy="27940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-Poblaciones, muestras y variabilidad...PAG6</a:t>
            </a:r>
          </a:p>
        </p:txBody>
      </p:sp>
      <p:sp>
        <p:nvSpPr>
          <p:cNvPr name="TextBox 13" id="13"/>
          <p:cNvSpPr txBox="true"/>
          <p:nvPr/>
        </p:nvSpPr>
        <p:spPr>
          <a:xfrm rot="0">
            <a:off x="1751484" y="5729330"/>
            <a:ext cx="8115300" cy="102235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-Media y mediana muestrales...PAG7-PAG9</a:t>
            </a:r>
          </a:p>
          <a:p>
            <a:pPr algn="l">
              <a:lnSpc>
                <a:spcPts val="1999"/>
              </a:lnSpc>
            </a:pPr>
            <a:r>
              <a:rPr lang="en-US" sz="1999" spc="-39">
                <a:solidFill>
                  <a:srgbClr val="D5D5D5"/>
                </a:solidFill>
                <a:latin typeface="Poppins"/>
                <a:ea typeface="Poppins"/>
                <a:cs typeface="Poppins"/>
                <a:sym typeface="Poppins"/>
              </a:rPr>
              <a:t>-Unimodalidad y multimodalidad...PAG10</a:t>
            </a:r>
          </a:p>
          <a:p>
            <a:pPr algn="l">
              <a:lnSpc>
                <a:spcPts val="1999"/>
              </a:lnSpc>
            </a:pPr>
            <a:r>
              <a:rPr lang="en-US" sz="1999" spc="-39">
                <a:solidFill>
                  <a:srgbClr val="D5D5D5"/>
                </a:solidFill>
                <a:latin typeface="Poppins"/>
                <a:ea typeface="Poppins"/>
                <a:cs typeface="Poppins"/>
                <a:sym typeface="Poppins"/>
              </a:rPr>
              <a:t>-</a:t>
            </a:r>
            <a:r>
              <a:rPr lang="en-US" sz="1999" spc="-39" b="true">
                <a:solidFill>
                  <a:srgbClr val="D5D5D5"/>
                </a:solidFill>
                <a:latin typeface="Poppins Medium"/>
                <a:ea typeface="Poppins Medium"/>
                <a:cs typeface="Poppins Medium"/>
                <a:sym typeface="Poppins Medium"/>
              </a:rPr>
              <a:t>Varianza muestral y desviación estándar...PAG11</a:t>
            </a:r>
          </a:p>
          <a:p>
            <a:pPr algn="l">
              <a:lnSpc>
                <a:spcPts val="1999"/>
              </a:lnSpc>
            </a:pPr>
            <a:r>
              <a:rPr lang="en-US" sz="1999" spc="-39">
                <a:solidFill>
                  <a:srgbClr val="D5D5D5"/>
                </a:solidFill>
                <a:latin typeface="Poppins"/>
                <a:ea typeface="Poppins"/>
                <a:cs typeface="Poppins"/>
                <a:sym typeface="Poppins"/>
              </a:rPr>
              <a:t>-I</a:t>
            </a:r>
            <a:r>
              <a:rPr lang="en-US" b="true" sz="1999" spc="-39">
                <a:solidFill>
                  <a:srgbClr val="D5D5D5"/>
                </a:solidFill>
                <a:latin typeface="Poppins Medium"/>
                <a:ea typeface="Poppins Medium"/>
                <a:cs typeface="Poppins Medium"/>
                <a:sym typeface="Poppins Medium"/>
              </a:rPr>
              <a:t>ntercuartiles...PAG12-PAG14</a:t>
            </a:r>
          </a:p>
        </p:txBody>
      </p:sp>
      <p:sp>
        <p:nvSpPr>
          <p:cNvPr name="TextBox 14" id="14"/>
          <p:cNvSpPr txBox="true"/>
          <p:nvPr/>
        </p:nvSpPr>
        <p:spPr>
          <a:xfrm rot="0">
            <a:off x="1727969" y="7367629"/>
            <a:ext cx="8115300" cy="226060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-Gráficas para Observaciones Univariadas...PAG15</a:t>
            </a:r>
          </a:p>
          <a:p>
            <a:pPr algn="l">
              <a:lnSpc>
                <a:spcPts val="1999"/>
              </a:lnSpc>
            </a:pPr>
            <a:r>
              <a:rPr lang="en-US" sz="1999" spc="-39">
                <a:solidFill>
                  <a:srgbClr val="D5D5D5"/>
                </a:solidFill>
                <a:latin typeface="Poppins"/>
                <a:ea typeface="Poppins"/>
                <a:cs typeface="Poppins"/>
                <a:sym typeface="Poppins"/>
              </a:rPr>
              <a:t>*</a:t>
            </a:r>
            <a:r>
              <a:rPr lang="en-US" sz="1999" spc="-39">
                <a:solidFill>
                  <a:srgbClr val="D5D5D5"/>
                </a:solidFill>
                <a:latin typeface="Poppins"/>
                <a:ea typeface="Poppins"/>
                <a:cs typeface="Poppins"/>
                <a:sym typeface="Poppins"/>
              </a:rPr>
              <a:t>Histograma...PAG15-PAG16</a:t>
            </a:r>
          </a:p>
          <a:p>
            <a:pPr algn="l">
              <a:lnSpc>
                <a:spcPts val="1999"/>
              </a:lnSpc>
            </a:pPr>
            <a:r>
              <a:rPr lang="en-US" sz="1999" spc="-39">
                <a:solidFill>
                  <a:srgbClr val="D5D5D5"/>
                </a:solidFill>
                <a:latin typeface="Poppins"/>
                <a:ea typeface="Poppins"/>
                <a:cs typeface="Poppins"/>
                <a:sym typeface="Poppins"/>
              </a:rPr>
              <a:t>*Boxplot...PAG17</a:t>
            </a:r>
          </a:p>
          <a:p>
            <a:pPr algn="l">
              <a:lnSpc>
                <a:spcPts val="1999"/>
              </a:lnSpc>
            </a:pPr>
            <a:r>
              <a:rPr lang="en-US" sz="1999" spc="-39">
                <a:solidFill>
                  <a:srgbClr val="D5D5D5"/>
                </a:solidFill>
                <a:latin typeface="Poppins"/>
                <a:ea typeface="Poppins"/>
                <a:cs typeface="Poppins"/>
                <a:sym typeface="Poppins"/>
              </a:rPr>
              <a:t>*Distribuciones de variables categóricas y  Analisis cruzado...PAG17-PAG22</a:t>
            </a:r>
          </a:p>
          <a:p>
            <a:pPr algn="l">
              <a:lnSpc>
                <a:spcPts val="1999"/>
              </a:lnSpc>
            </a:pPr>
            <a:r>
              <a:rPr lang="en-US" sz="1999" spc="-39">
                <a:solidFill>
                  <a:srgbClr val="D5D5D5"/>
                </a:solidFill>
                <a:latin typeface="Poppins"/>
                <a:ea typeface="Poppins"/>
                <a:cs typeface="Poppins"/>
                <a:sym typeface="Poppins"/>
              </a:rPr>
              <a:t>-Gráficas para Observaciones Multivariadas...PAG23</a:t>
            </a:r>
          </a:p>
          <a:p>
            <a:pPr algn="l">
              <a:lnSpc>
                <a:spcPts val="1999"/>
              </a:lnSpc>
            </a:pPr>
            <a:r>
              <a:rPr lang="en-US" sz="1999" spc="-39">
                <a:solidFill>
                  <a:srgbClr val="D5D5D5"/>
                </a:solidFill>
                <a:latin typeface="Poppins"/>
                <a:ea typeface="Poppins"/>
                <a:cs typeface="Poppins"/>
                <a:sym typeface="Poppins"/>
              </a:rPr>
              <a:t>*Matriz de dispersión (scatter matrix)...PAG23-PAG24</a:t>
            </a:r>
          </a:p>
          <a:p>
            <a:pPr algn="l">
              <a:lnSpc>
                <a:spcPts val="1999"/>
              </a:lnSpc>
            </a:pPr>
            <a:r>
              <a:rPr lang="en-US" sz="1999" spc="-39">
                <a:solidFill>
                  <a:srgbClr val="D5D5D5"/>
                </a:solidFill>
                <a:latin typeface="Poppins"/>
                <a:ea typeface="Poppins"/>
                <a:cs typeface="Poppins"/>
                <a:sym typeface="Poppins"/>
              </a:rPr>
              <a:t>*Espacio de estados...PAG25-PAG26</a:t>
            </a:r>
          </a:p>
          <a:p>
            <a:pPr algn="l">
              <a:lnSpc>
                <a:spcPts val="1999"/>
              </a:lnSpc>
            </a:pPr>
            <a:r>
              <a:rPr lang="en-US" sz="1999" spc="-39">
                <a:solidFill>
                  <a:srgbClr val="D5D5D5"/>
                </a:solidFill>
                <a:latin typeface="Poppins"/>
                <a:ea typeface="Poppins"/>
                <a:cs typeface="Poppins"/>
                <a:sym typeface="Poppins"/>
              </a:rPr>
              <a:t>-Covarianza y Matriz de Covarianza Muestral...PAG27-PAG28</a:t>
            </a:r>
          </a:p>
        </p:txBody>
      </p:sp>
      <p:sp>
        <p:nvSpPr>
          <p:cNvPr name="TextBox 15" id="15"/>
          <p:cNvSpPr txBox="true"/>
          <p:nvPr/>
        </p:nvSpPr>
        <p:spPr>
          <a:xfrm rot="0">
            <a:off x="12628147" y="2573570"/>
            <a:ext cx="5138184" cy="349885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 xml:space="preserve">-Insights a simple vista...PAG29-PAG30 </a:t>
            </a:r>
          </a:p>
          <a:p>
            <a:pPr algn="l">
              <a:lnSpc>
                <a:spcPts val="1999"/>
              </a:lnSpc>
            </a:pPr>
            <a:r>
              <a:rPr lang="en-US" sz="1999" spc="-39">
                <a:solidFill>
                  <a:srgbClr val="D5D5D5"/>
                </a:solidFill>
                <a:latin typeface="Poppins"/>
                <a:ea typeface="Poppins"/>
                <a:cs typeface="Poppins"/>
                <a:sym typeface="Poppins"/>
              </a:rPr>
              <a:t>-Xiaomi y Motorola son marcas temporales...PAG31</a:t>
            </a:r>
          </a:p>
          <a:p>
            <a:pPr algn="l">
              <a:lnSpc>
                <a:spcPts val="1999"/>
              </a:lnSpc>
            </a:pPr>
            <a:r>
              <a:rPr lang="en-US" sz="1999" spc="-39">
                <a:solidFill>
                  <a:srgbClr val="D5D5D5"/>
                </a:solidFill>
                <a:latin typeface="Poppins"/>
                <a:ea typeface="Poppins"/>
                <a:cs typeface="Poppins"/>
                <a:sym typeface="Poppins"/>
              </a:rPr>
              <a:t>-Los estudiantes desfasados trabajan el doble, pero NO invierten en tecnología</a:t>
            </a:r>
            <a:r>
              <a:rPr lang="en-US" sz="1999" spc="-39">
                <a:solidFill>
                  <a:srgbClr val="D5D5D5"/>
                </a:solidFill>
                <a:latin typeface="Poppins"/>
                <a:ea typeface="Poppins"/>
                <a:cs typeface="Poppins"/>
                <a:sym typeface="Poppins"/>
              </a:rPr>
              <a:t>.</a:t>
            </a:r>
            <a:r>
              <a:rPr lang="en-US" sz="1999" spc="-39">
                <a:solidFill>
                  <a:srgbClr val="D5D5D5"/>
                </a:solidFill>
                <a:latin typeface="Poppins"/>
                <a:ea typeface="Poppins"/>
                <a:cs typeface="Poppins"/>
                <a:sym typeface="Poppins"/>
              </a:rPr>
              <a:t>..PAG32</a:t>
            </a:r>
          </a:p>
          <a:p>
            <a:pPr algn="l">
              <a:lnSpc>
                <a:spcPts val="1999"/>
              </a:lnSpc>
            </a:pPr>
            <a:r>
              <a:rPr lang="en-US" sz="1999" spc="-39">
                <a:solidFill>
                  <a:srgbClr val="D5D5D5"/>
                </a:solidFill>
                <a:latin typeface="Poppins"/>
                <a:ea typeface="Poppins"/>
                <a:cs typeface="Poppins"/>
                <a:sym typeface="Poppins"/>
              </a:rPr>
              <a:t>-Apple tiene un mercado de segunda mano que nadie más tiene...PAG33</a:t>
            </a:r>
          </a:p>
          <a:p>
            <a:pPr algn="l">
              <a:lnSpc>
                <a:spcPts val="1999"/>
              </a:lnSpc>
            </a:pPr>
            <a:r>
              <a:rPr lang="en-US" sz="1999" spc="-39">
                <a:solidFill>
                  <a:srgbClr val="D5D5D5"/>
                </a:solidFill>
                <a:latin typeface="Poppins"/>
                <a:ea typeface="Poppins"/>
                <a:cs typeface="Poppins"/>
                <a:sym typeface="Poppins"/>
              </a:rPr>
              <a:t>-</a:t>
            </a:r>
            <a:r>
              <a:rPr lang="en-US" sz="1999" spc="-39" b="true">
                <a:solidFill>
                  <a:srgbClr val="D5D5D5"/>
                </a:solidFill>
                <a:latin typeface="Poppins Medium"/>
                <a:ea typeface="Poppins Medium"/>
                <a:cs typeface="Poppins Medium"/>
                <a:sym typeface="Poppins Medium"/>
              </a:rPr>
              <a:t>Los hijos únicos tienen teléfonos 23% más caros...PAG34</a:t>
            </a:r>
          </a:p>
          <a:p>
            <a:pPr algn="l">
              <a:lnSpc>
                <a:spcPts val="1999"/>
              </a:lnSpc>
            </a:pPr>
            <a:r>
              <a:rPr lang="en-US" sz="1999" spc="-39" b="true">
                <a:solidFill>
                  <a:srgbClr val="D5D5D5"/>
                </a:solidFill>
                <a:latin typeface="Poppins Medium"/>
                <a:ea typeface="Poppins Medium"/>
                <a:cs typeface="Poppins Medium"/>
                <a:sym typeface="Poppins Medium"/>
              </a:rPr>
              <a:t>-Los alumnos irregulares tienen MÁS teléfonos premium...PAG35</a:t>
            </a:r>
          </a:p>
          <a:p>
            <a:pPr algn="l">
              <a:lnSpc>
                <a:spcPts val="1999"/>
              </a:lnSpc>
            </a:pPr>
            <a:r>
              <a:rPr lang="en-US" b="true" sz="1999" spc="-39">
                <a:solidFill>
                  <a:srgbClr val="D5D5D5"/>
                </a:solidFill>
                <a:latin typeface="Poppins Medium"/>
                <a:ea typeface="Poppins Medium"/>
                <a:cs typeface="Poppins Medium"/>
                <a:sym typeface="Poppins Medium"/>
              </a:rPr>
              <a:t>-El semestre 6 es el pico del empleo y el valle del plan contratado...PAG36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2001625" y="1028700"/>
            <a:ext cx="3835111" cy="3835111"/>
          </a:xfrm>
          <a:custGeom>
            <a:avLst/>
            <a:gdLst/>
            <a:ahLst/>
            <a:cxnLst/>
            <a:rect r="r" b="b" t="t" l="l"/>
            <a:pathLst>
              <a:path h="3835111" w="3835111">
                <a:moveTo>
                  <a:pt x="0" y="0"/>
                </a:moveTo>
                <a:lnTo>
                  <a:pt x="3835111" y="0"/>
                </a:lnTo>
                <a:lnTo>
                  <a:pt x="3835111" y="3835111"/>
                </a:lnTo>
                <a:lnTo>
                  <a:pt x="0" y="3835111"/>
                </a:lnTo>
                <a:lnTo>
                  <a:pt x="0" y="0"/>
                </a:lnTo>
                <a:close/>
              </a:path>
            </a:pathLst>
          </a:custGeom>
          <a:blipFill>
            <a:blip r:embed="rId2"/>
            <a:stretch>
              <a:fillRect l="0" t="0" r="0" b="0"/>
            </a:stretch>
          </a:blipFill>
        </p:spPr>
      </p:sp>
      <p:sp>
        <p:nvSpPr>
          <p:cNvPr name="Freeform 3" id="3"/>
          <p:cNvSpPr/>
          <p:nvPr/>
        </p:nvSpPr>
        <p:spPr>
          <a:xfrm flipH="false" flipV="false" rot="0">
            <a:off x="13334121" y="5335056"/>
            <a:ext cx="3188129" cy="3188129"/>
          </a:xfrm>
          <a:custGeom>
            <a:avLst/>
            <a:gdLst/>
            <a:ahLst/>
            <a:cxnLst/>
            <a:rect r="r" b="b" t="t" l="l"/>
            <a:pathLst>
              <a:path h="3188129" w="3188129">
                <a:moveTo>
                  <a:pt x="0" y="0"/>
                </a:moveTo>
                <a:lnTo>
                  <a:pt x="3188129" y="0"/>
                </a:lnTo>
                <a:lnTo>
                  <a:pt x="3188129" y="3188128"/>
                </a:lnTo>
                <a:lnTo>
                  <a:pt x="0" y="3188128"/>
                </a:lnTo>
                <a:lnTo>
                  <a:pt x="0" y="0"/>
                </a:lnTo>
                <a:close/>
              </a:path>
            </a:pathLst>
          </a:custGeom>
          <a:blipFill>
            <a:blip r:embed="rId3"/>
            <a:stretch>
              <a:fillRect l="0" t="0" r="0" b="0"/>
            </a:stretch>
          </a:blipFill>
        </p:spPr>
      </p:sp>
      <p:sp>
        <p:nvSpPr>
          <p:cNvPr name="TextBox 4" id="4"/>
          <p:cNvSpPr txBox="true"/>
          <p:nvPr/>
        </p:nvSpPr>
        <p:spPr>
          <a:xfrm rot="0">
            <a:off x="1682999" y="3430270"/>
            <a:ext cx="4309525" cy="392430"/>
          </a:xfrm>
          <a:prstGeom prst="rect">
            <a:avLst/>
          </a:prstGeom>
        </p:spPr>
        <p:txBody>
          <a:bodyPr anchor="t" rtlCol="false" tIns="0" lIns="0" bIns="0" rIns="0">
            <a:spAutoFit/>
          </a:bodyPr>
          <a:lstStyle/>
          <a:p>
            <a:pPr algn="l">
              <a:lnSpc>
                <a:spcPts val="2700"/>
              </a:lnSpc>
            </a:pPr>
            <a:r>
              <a:rPr lang="en-US" b="true" sz="2700" spc="-54">
                <a:solidFill>
                  <a:srgbClr val="D5D5D5"/>
                </a:solidFill>
                <a:latin typeface="Poppins Bold"/>
                <a:ea typeface="Poppins Bold"/>
                <a:cs typeface="Poppins Bold"/>
                <a:sym typeface="Poppins Bold"/>
              </a:rPr>
              <a:t>Contexto:</a:t>
            </a:r>
          </a:p>
        </p:txBody>
      </p:sp>
      <p:sp>
        <p:nvSpPr>
          <p:cNvPr name="TextBox 5" id="5"/>
          <p:cNvSpPr txBox="true"/>
          <p:nvPr/>
        </p:nvSpPr>
        <p:spPr>
          <a:xfrm rot="0">
            <a:off x="1028700" y="1991813"/>
            <a:ext cx="8168655" cy="11830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INTRODUCCION</a:t>
            </a:r>
          </a:p>
        </p:txBody>
      </p:sp>
      <p:sp>
        <p:nvSpPr>
          <p:cNvPr name="TextBox 6" id="6"/>
          <p:cNvSpPr txBox="true"/>
          <p:nvPr/>
        </p:nvSpPr>
        <p:spPr>
          <a:xfrm rot="0">
            <a:off x="1828867" y="3851275"/>
            <a:ext cx="10326561" cy="977900"/>
          </a:xfrm>
          <a:prstGeom prst="rect">
            <a:avLst/>
          </a:prstGeom>
        </p:spPr>
        <p:txBody>
          <a:bodyPr anchor="t" rtlCol="false" tIns="0" lIns="0" bIns="0" rIns="0">
            <a:spAutoFit/>
          </a:bodyPr>
          <a:lstStyle/>
          <a:p>
            <a:pPr algn="just">
              <a:lnSpc>
                <a:spcPts val="2499"/>
              </a:lnSpc>
            </a:pPr>
            <a:r>
              <a:rPr lang="en-US" sz="2499" spc="-49">
                <a:solidFill>
                  <a:srgbClr val="D5D5D5"/>
                </a:solidFill>
                <a:latin typeface="Poppins"/>
                <a:ea typeface="Poppins"/>
                <a:cs typeface="Poppins"/>
                <a:sym typeface="Poppins"/>
              </a:rPr>
              <a:t>Encuesta aplicada a 511 estudiantes universitarios de carreras STEM (Ciencia de Datos, Ingeniería en Sistemas, Inteligencia Artificial) sobre sus hábitos y preferencias de telefonía móvil.</a:t>
            </a:r>
          </a:p>
        </p:txBody>
      </p:sp>
      <p:sp>
        <p:nvSpPr>
          <p:cNvPr name="TextBox 7" id="7"/>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a:t>
            </a:r>
          </a:p>
        </p:txBody>
      </p:sp>
      <p:sp>
        <p:nvSpPr>
          <p:cNvPr name="TextBox 8" id="8"/>
          <p:cNvSpPr txBox="true"/>
          <p:nvPr/>
        </p:nvSpPr>
        <p:spPr>
          <a:xfrm rot="0">
            <a:off x="1682999" y="5086350"/>
            <a:ext cx="4309525" cy="392430"/>
          </a:xfrm>
          <a:prstGeom prst="rect">
            <a:avLst/>
          </a:prstGeom>
        </p:spPr>
        <p:txBody>
          <a:bodyPr anchor="t" rtlCol="false" tIns="0" lIns="0" bIns="0" rIns="0">
            <a:spAutoFit/>
          </a:bodyPr>
          <a:lstStyle/>
          <a:p>
            <a:pPr algn="l">
              <a:lnSpc>
                <a:spcPts val="2700"/>
              </a:lnSpc>
            </a:pPr>
            <a:r>
              <a:rPr lang="en-US" b="true" sz="2700" spc="-54">
                <a:solidFill>
                  <a:srgbClr val="D5D5D5"/>
                </a:solidFill>
                <a:latin typeface="Poppins Bold"/>
                <a:ea typeface="Poppins Bold"/>
                <a:cs typeface="Poppins Bold"/>
                <a:sym typeface="Poppins Bold"/>
              </a:rPr>
              <a:t>Objetivo:</a:t>
            </a:r>
          </a:p>
        </p:txBody>
      </p:sp>
      <p:sp>
        <p:nvSpPr>
          <p:cNvPr name="TextBox 9" id="9"/>
          <p:cNvSpPr txBox="true"/>
          <p:nvPr/>
        </p:nvSpPr>
        <p:spPr>
          <a:xfrm rot="0">
            <a:off x="1828867" y="5507355"/>
            <a:ext cx="9690436" cy="977900"/>
          </a:xfrm>
          <a:prstGeom prst="rect">
            <a:avLst/>
          </a:prstGeom>
        </p:spPr>
        <p:txBody>
          <a:bodyPr anchor="t" rtlCol="false" tIns="0" lIns="0" bIns="0" rIns="0">
            <a:spAutoFit/>
          </a:bodyPr>
          <a:lstStyle/>
          <a:p>
            <a:pPr algn="just">
              <a:lnSpc>
                <a:spcPts val="2499"/>
              </a:lnSpc>
            </a:pPr>
            <a:r>
              <a:rPr lang="en-US" sz="2499" spc="-49">
                <a:solidFill>
                  <a:srgbClr val="D5D5D5"/>
                </a:solidFill>
                <a:latin typeface="Poppins"/>
                <a:ea typeface="Poppins"/>
                <a:cs typeface="Poppins"/>
                <a:sym typeface="Poppins"/>
              </a:rPr>
              <a:t>Aplicar lo aprendido a lo largo del primer departamental de la materia “Estadística” para poder extraer y observar información útil sobre cómo usan la tecnología los estudiantes.</a:t>
            </a:r>
          </a:p>
        </p:txBody>
      </p:sp>
      <p:sp>
        <p:nvSpPr>
          <p:cNvPr name="TextBox 10" id="10"/>
          <p:cNvSpPr txBox="true"/>
          <p:nvPr/>
        </p:nvSpPr>
        <p:spPr>
          <a:xfrm rot="0">
            <a:off x="1682999" y="6742430"/>
            <a:ext cx="4309525" cy="392430"/>
          </a:xfrm>
          <a:prstGeom prst="rect">
            <a:avLst/>
          </a:prstGeom>
        </p:spPr>
        <p:txBody>
          <a:bodyPr anchor="t" rtlCol="false" tIns="0" lIns="0" bIns="0" rIns="0">
            <a:spAutoFit/>
          </a:bodyPr>
          <a:lstStyle/>
          <a:p>
            <a:pPr algn="l">
              <a:lnSpc>
                <a:spcPts val="2700"/>
              </a:lnSpc>
            </a:pPr>
            <a:r>
              <a:rPr lang="en-US" b="true" sz="2700" spc="-54">
                <a:solidFill>
                  <a:srgbClr val="D5D5D5"/>
                </a:solidFill>
                <a:latin typeface="Poppins Bold"/>
                <a:ea typeface="Poppins Bold"/>
                <a:cs typeface="Poppins Bold"/>
                <a:sym typeface="Poppins Bold"/>
              </a:rPr>
              <a:t>¿Por qué se hizo?:</a:t>
            </a:r>
          </a:p>
        </p:txBody>
      </p:sp>
      <p:sp>
        <p:nvSpPr>
          <p:cNvPr name="TextBox 11" id="11"/>
          <p:cNvSpPr txBox="true"/>
          <p:nvPr/>
        </p:nvSpPr>
        <p:spPr>
          <a:xfrm rot="0">
            <a:off x="1828867" y="7163435"/>
            <a:ext cx="10471960" cy="1606550"/>
          </a:xfrm>
          <a:prstGeom prst="rect">
            <a:avLst/>
          </a:prstGeom>
        </p:spPr>
        <p:txBody>
          <a:bodyPr anchor="t" rtlCol="false" tIns="0" lIns="0" bIns="0" rIns="0">
            <a:spAutoFit/>
          </a:bodyPr>
          <a:lstStyle/>
          <a:p>
            <a:pPr algn="just">
              <a:lnSpc>
                <a:spcPts val="2499"/>
              </a:lnSpc>
            </a:pPr>
            <a:r>
              <a:rPr lang="en-US" sz="2499" spc="-49">
                <a:solidFill>
                  <a:srgbClr val="D5D5D5"/>
                </a:solidFill>
                <a:latin typeface="Poppins"/>
                <a:ea typeface="Poppins"/>
                <a:cs typeface="Poppins"/>
                <a:sym typeface="Poppins"/>
              </a:rPr>
              <a:t>Este estudio se realizó con el propósito de comprender mejor los hábitos, preferencias y necesidades en el uso de telefonía móvil de los estudiantes de las carreras en ESCOM. Dado que este perfil académico suele estar más vinculado al uso intensivo de tecnología.</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971069" y="1406525"/>
          <a:ext cx="14158653" cy="2047875"/>
        </p:xfrm>
        <a:graphic>
          <a:graphicData uri="http://schemas.openxmlformats.org/drawingml/2006/table">
            <a:tbl>
              <a:tblPr/>
              <a:tblGrid>
                <a:gridCol w="1301966"/>
                <a:gridCol w="1466464"/>
                <a:gridCol w="1716973"/>
                <a:gridCol w="1327671"/>
                <a:gridCol w="1197318"/>
                <a:gridCol w="1651687"/>
                <a:gridCol w="1468442"/>
                <a:gridCol w="1323956"/>
                <a:gridCol w="1190602"/>
                <a:gridCol w="1513574"/>
              </a:tblGrid>
              <a:tr h="2047875">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Marca temporal</a:t>
                      </a:r>
                      <a:endParaRPr lang="en-US" sz="1100"/>
                    </a:p>
                    <a:p>
                      <a:pPr algn="ctr">
                        <a:lnSpc>
                          <a:spcPts val="3079"/>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Dirección de correo electrónico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¿Cuál es la marca de tu teléfono?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Procedencia  (dónde naciste)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¿Eres alumno regular?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¿Qué carrera estudias?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¿En qué semestre te encuentras actualmente?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¿Tienes hermanos?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Capacidad del teléfono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Modelo del teléfono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1028700" y="5362575"/>
            <a:ext cx="8021696" cy="1806576"/>
          </a:xfrm>
          <a:prstGeom prst="rect">
            <a:avLst/>
          </a:prstGeom>
        </p:spPr>
        <p:txBody>
          <a:bodyPr anchor="t" rtlCol="false" tIns="0" lIns="0" bIns="0" rIns="0">
            <a:spAutoFit/>
          </a:bodyPr>
          <a:lstStyle/>
          <a:p>
            <a:pPr algn="l">
              <a:lnSpc>
                <a:spcPts val="6400"/>
              </a:lnSpc>
            </a:pPr>
            <a:r>
              <a:rPr lang="en-US" b="true" sz="8000" spc="-832">
                <a:solidFill>
                  <a:srgbClr val="D5D5D5"/>
                </a:solidFill>
                <a:latin typeface="Poppins Bold"/>
                <a:ea typeface="Poppins Bold"/>
                <a:cs typeface="Poppins Bold"/>
                <a:sym typeface="Poppins Bold"/>
              </a:rPr>
              <a:t>CARGA Y  LIMPIEZA DE DATOS</a:t>
            </a:r>
          </a:p>
        </p:txBody>
      </p:sp>
      <p:sp>
        <p:nvSpPr>
          <p:cNvPr name="TextBox 4" id="4"/>
          <p:cNvSpPr txBox="true"/>
          <p:nvPr/>
        </p:nvSpPr>
        <p:spPr>
          <a:xfrm rot="0">
            <a:off x="1483074" y="7331076"/>
            <a:ext cx="8021696" cy="19608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Dimensiones originales: (511, 17)</a:t>
            </a:r>
          </a:p>
          <a:p>
            <a:pPr algn="just">
              <a:lnSpc>
                <a:spcPts val="2199"/>
              </a:lnSpc>
            </a:pPr>
          </a:p>
          <a:p>
            <a:pPr algn="just">
              <a:lnSpc>
                <a:spcPts val="2199"/>
              </a:lnSpc>
            </a:pPr>
            <a:r>
              <a:rPr lang="en-US" sz="2199" spc="-43">
                <a:solidFill>
                  <a:srgbClr val="D5D5D5"/>
                </a:solidFill>
                <a:latin typeface="Poppins"/>
                <a:ea typeface="Poppins"/>
                <a:cs typeface="Poppins"/>
                <a:sym typeface="Poppins"/>
              </a:rPr>
              <a:t>Todas las variables cuentan con los 511 registros excepto:</a:t>
            </a:r>
          </a:p>
          <a:p>
            <a:pPr algn="just">
              <a:lnSpc>
                <a:spcPts val="2199"/>
              </a:lnSpc>
            </a:pPr>
            <a:r>
              <a:rPr lang="en-US" sz="2199" spc="-43">
                <a:solidFill>
                  <a:srgbClr val="D5D5D5"/>
                </a:solidFill>
                <a:latin typeface="Poppins"/>
                <a:ea typeface="Poppins"/>
                <a:cs typeface="Poppins"/>
                <a:sym typeface="Poppins"/>
              </a:rPr>
              <a:t>¿Eres alumno regular?                               482    =  5.7%</a:t>
            </a:r>
          </a:p>
          <a:p>
            <a:pPr algn="just">
              <a:lnSpc>
                <a:spcPts val="2199"/>
              </a:lnSpc>
            </a:pPr>
            <a:r>
              <a:rPr lang="en-US" sz="2199" spc="-43">
                <a:solidFill>
                  <a:srgbClr val="D5D5D5"/>
                </a:solidFill>
                <a:latin typeface="Poppins"/>
                <a:ea typeface="Poppins"/>
                <a:cs typeface="Poppins"/>
                <a:sym typeface="Poppins"/>
              </a:rPr>
              <a:t>¿Tienes hermanos?                                    482     =  5.7%</a:t>
            </a:r>
          </a:p>
          <a:p>
            <a:pPr algn="just">
              <a:lnSpc>
                <a:spcPts val="2199"/>
              </a:lnSpc>
            </a:pPr>
            <a:r>
              <a:rPr lang="en-US" sz="2199" spc="-43">
                <a:solidFill>
                  <a:srgbClr val="D5D5D5"/>
                </a:solidFill>
                <a:latin typeface="Poppins"/>
                <a:ea typeface="Poppins"/>
                <a:cs typeface="Poppins"/>
                <a:sym typeface="Poppins"/>
              </a:rPr>
              <a:t>¿Qué teléfono te gustaría tener?            481     =  5.9%</a:t>
            </a:r>
          </a:p>
          <a:p>
            <a:pPr algn="just">
              <a:lnSpc>
                <a:spcPts val="2199"/>
              </a:lnSpc>
            </a:pPr>
            <a:r>
              <a:rPr lang="en-US" sz="2199" spc="-43">
                <a:solidFill>
                  <a:srgbClr val="D5D5D5"/>
                </a:solidFill>
                <a:latin typeface="Poppins"/>
                <a:ea typeface="Poppins"/>
                <a:cs typeface="Poppins"/>
                <a:sym typeface="Poppins"/>
              </a:rPr>
              <a:t xml:space="preserve"> </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4</a:t>
            </a:r>
          </a:p>
        </p:txBody>
      </p:sp>
      <p:graphicFrame>
        <p:nvGraphicFramePr>
          <p:cNvPr name="Table 6" id="6"/>
          <p:cNvGraphicFramePr>
            <a:graphicFrameLocks noGrp="true"/>
          </p:cNvGraphicFramePr>
          <p:nvPr/>
        </p:nvGraphicFramePr>
        <p:xfrm>
          <a:off x="4888240" y="3454400"/>
          <a:ext cx="9233061" cy="1552575"/>
        </p:xfrm>
        <a:graphic>
          <a:graphicData uri="http://schemas.openxmlformats.org/drawingml/2006/table">
            <a:tbl>
              <a:tblPr/>
              <a:tblGrid>
                <a:gridCol w="1429980"/>
                <a:gridCol w="1467832"/>
                <a:gridCol w="1412928"/>
                <a:gridCol w="1190920"/>
                <a:gridCol w="1441035"/>
                <a:gridCol w="889679"/>
                <a:gridCol w="1400687"/>
              </a:tblGrid>
              <a:tr h="1552575">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Tiempo que llevas con tu teléfono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Plan o prepago del teléfono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Tu teléfono 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1959"/>
                        </a:lnSpc>
                        <a:defRPr/>
                      </a:pPr>
                      <a:r>
                        <a:rPr lang="en-US" sz="1399" b="true">
                          <a:solidFill>
                            <a:srgbClr val="FFFFFF"/>
                          </a:solidFill>
                          <a:latin typeface="Poppins Bold"/>
                          <a:ea typeface="Poppins Bold"/>
                          <a:cs typeface="Poppins Bold"/>
                          <a:sym typeface="Poppins Bold"/>
                        </a:rPr>
                        <a:t>Género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1959"/>
                        </a:lnSpc>
                        <a:defRPr/>
                      </a:pPr>
                      <a:r>
                        <a:rPr lang="en-US" sz="1399" b="true">
                          <a:solidFill>
                            <a:srgbClr val="FFFFFF"/>
                          </a:solidFill>
                          <a:latin typeface="Poppins Bold"/>
                          <a:ea typeface="Poppins Bold"/>
                          <a:cs typeface="Poppins Bold"/>
                          <a:sym typeface="Poppins Bold"/>
                        </a:rPr>
                        <a:t>Edad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1959"/>
                        </a:lnSpc>
                        <a:defRPr/>
                      </a:pPr>
                      <a:r>
                        <a:rPr lang="en-US" sz="1399" b="true">
                          <a:solidFill>
                            <a:srgbClr val="FFFFFF"/>
                          </a:solidFill>
                          <a:latin typeface="Poppins Bold"/>
                          <a:ea typeface="Poppins Bold"/>
                          <a:cs typeface="Poppins Bold"/>
                          <a:sym typeface="Poppins Bold"/>
                        </a:rPr>
                        <a:t>¿Trabajas?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1959"/>
                        </a:lnSpc>
                        <a:defRPr/>
                      </a:pPr>
                      <a:r>
                        <a:rPr lang="en-US" sz="1399" b="true">
                          <a:solidFill>
                            <a:srgbClr val="FFFFFF"/>
                          </a:solidFill>
                          <a:latin typeface="Poppins Bold"/>
                          <a:ea typeface="Poppins Bold"/>
                          <a:cs typeface="Poppins Bold"/>
                          <a:sym typeface="Poppins Bold"/>
                        </a:rPr>
                        <a:t>Que telefono te gustaria tener?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679915" y="1217612"/>
            <a:ext cx="2339701" cy="2339701"/>
          </a:xfrm>
          <a:custGeom>
            <a:avLst/>
            <a:gdLst/>
            <a:ahLst/>
            <a:cxnLst/>
            <a:rect r="r" b="b" t="t" l="l"/>
            <a:pathLst>
              <a:path h="2339701" w="2339701">
                <a:moveTo>
                  <a:pt x="0" y="0"/>
                </a:moveTo>
                <a:lnTo>
                  <a:pt x="2339700" y="0"/>
                </a:lnTo>
                <a:lnTo>
                  <a:pt x="2339700" y="2339701"/>
                </a:lnTo>
                <a:lnTo>
                  <a:pt x="0" y="2339701"/>
                </a:lnTo>
                <a:lnTo>
                  <a:pt x="0" y="0"/>
                </a:lnTo>
                <a:close/>
              </a:path>
            </a:pathLst>
          </a:custGeom>
          <a:blipFill>
            <a:blip r:embed="rId2"/>
            <a:stretch>
              <a:fillRect l="0" t="0" r="0" b="0"/>
            </a:stretch>
          </a:blipFill>
        </p:spPr>
      </p:sp>
      <p:sp>
        <p:nvSpPr>
          <p:cNvPr name="Freeform 3" id="3"/>
          <p:cNvSpPr/>
          <p:nvPr/>
        </p:nvSpPr>
        <p:spPr>
          <a:xfrm flipH="false" flipV="false" rot="0">
            <a:off x="13019615" y="2793874"/>
            <a:ext cx="4511707" cy="1201242"/>
          </a:xfrm>
          <a:custGeom>
            <a:avLst/>
            <a:gdLst/>
            <a:ahLst/>
            <a:cxnLst/>
            <a:rect r="r" b="b" t="t" l="l"/>
            <a:pathLst>
              <a:path h="1201242" w="4511707">
                <a:moveTo>
                  <a:pt x="0" y="0"/>
                </a:moveTo>
                <a:lnTo>
                  <a:pt x="4511708" y="0"/>
                </a:lnTo>
                <a:lnTo>
                  <a:pt x="4511708" y="1201242"/>
                </a:lnTo>
                <a:lnTo>
                  <a:pt x="0" y="1201242"/>
                </a:lnTo>
                <a:lnTo>
                  <a:pt x="0" y="0"/>
                </a:lnTo>
                <a:close/>
              </a:path>
            </a:pathLst>
          </a:custGeom>
          <a:blipFill>
            <a:blip r:embed="rId3"/>
            <a:stretch>
              <a:fillRect l="0" t="0" r="0" b="0"/>
            </a:stretch>
          </a:blipFill>
        </p:spPr>
      </p:sp>
      <p:sp>
        <p:nvSpPr>
          <p:cNvPr name="Freeform 4" id="4"/>
          <p:cNvSpPr/>
          <p:nvPr/>
        </p:nvSpPr>
        <p:spPr>
          <a:xfrm flipH="false" flipV="false" rot="0">
            <a:off x="14953119" y="4108959"/>
            <a:ext cx="2578204" cy="2098014"/>
          </a:xfrm>
          <a:custGeom>
            <a:avLst/>
            <a:gdLst/>
            <a:ahLst/>
            <a:cxnLst/>
            <a:rect r="r" b="b" t="t" l="l"/>
            <a:pathLst>
              <a:path h="2098014" w="2578204">
                <a:moveTo>
                  <a:pt x="0" y="0"/>
                </a:moveTo>
                <a:lnTo>
                  <a:pt x="2578204" y="0"/>
                </a:lnTo>
                <a:lnTo>
                  <a:pt x="2578204" y="2098014"/>
                </a:lnTo>
                <a:lnTo>
                  <a:pt x="0" y="2098014"/>
                </a:lnTo>
                <a:lnTo>
                  <a:pt x="0" y="0"/>
                </a:lnTo>
                <a:close/>
              </a:path>
            </a:pathLst>
          </a:custGeom>
          <a:blipFill>
            <a:blip r:embed="rId4"/>
            <a:stretch>
              <a:fillRect l="0" t="0" r="0" b="0"/>
            </a:stretch>
          </a:blipFill>
        </p:spPr>
      </p:sp>
      <p:sp>
        <p:nvSpPr>
          <p:cNvPr name="Freeform 5" id="5"/>
          <p:cNvSpPr/>
          <p:nvPr/>
        </p:nvSpPr>
        <p:spPr>
          <a:xfrm flipH="false" flipV="false" rot="0">
            <a:off x="11563571" y="3704107"/>
            <a:ext cx="3439875" cy="3439875"/>
          </a:xfrm>
          <a:custGeom>
            <a:avLst/>
            <a:gdLst/>
            <a:ahLst/>
            <a:cxnLst/>
            <a:rect r="r" b="b" t="t" l="l"/>
            <a:pathLst>
              <a:path h="3439875" w="3439875">
                <a:moveTo>
                  <a:pt x="0" y="0"/>
                </a:moveTo>
                <a:lnTo>
                  <a:pt x="3439875" y="0"/>
                </a:lnTo>
                <a:lnTo>
                  <a:pt x="3439875" y="3439874"/>
                </a:lnTo>
                <a:lnTo>
                  <a:pt x="0" y="3439874"/>
                </a:lnTo>
                <a:lnTo>
                  <a:pt x="0" y="0"/>
                </a:lnTo>
                <a:close/>
              </a:path>
            </a:pathLst>
          </a:custGeom>
          <a:blipFill>
            <a:blip r:embed="rId5"/>
            <a:stretch>
              <a:fillRect l="0" t="0" r="0" b="0"/>
            </a:stretch>
          </a:blipFill>
        </p:spPr>
      </p:sp>
      <p:sp>
        <p:nvSpPr>
          <p:cNvPr name="Freeform 6" id="6"/>
          <p:cNvSpPr/>
          <p:nvPr/>
        </p:nvSpPr>
        <p:spPr>
          <a:xfrm flipH="false" flipV="false" rot="0">
            <a:off x="14953119" y="6436870"/>
            <a:ext cx="2219897" cy="2219897"/>
          </a:xfrm>
          <a:custGeom>
            <a:avLst/>
            <a:gdLst/>
            <a:ahLst/>
            <a:cxnLst/>
            <a:rect r="r" b="b" t="t" l="l"/>
            <a:pathLst>
              <a:path h="2219897" w="2219897">
                <a:moveTo>
                  <a:pt x="0" y="0"/>
                </a:moveTo>
                <a:lnTo>
                  <a:pt x="2219897" y="0"/>
                </a:lnTo>
                <a:lnTo>
                  <a:pt x="2219897" y="2219896"/>
                </a:lnTo>
                <a:lnTo>
                  <a:pt x="0" y="2219896"/>
                </a:lnTo>
                <a:lnTo>
                  <a:pt x="0" y="0"/>
                </a:lnTo>
                <a:close/>
              </a:path>
            </a:pathLst>
          </a:custGeom>
          <a:blipFill>
            <a:blip r:embed="rId6"/>
            <a:stretch>
              <a:fillRect l="0" t="0" r="0" b="0"/>
            </a:stretch>
          </a:blipFill>
        </p:spPr>
      </p:sp>
      <p:sp>
        <p:nvSpPr>
          <p:cNvPr name="TextBox 7" id="7"/>
          <p:cNvSpPr txBox="true"/>
          <p:nvPr/>
        </p:nvSpPr>
        <p:spPr>
          <a:xfrm rot="0">
            <a:off x="1453686" y="1255712"/>
            <a:ext cx="8944143" cy="3914140"/>
          </a:xfrm>
          <a:prstGeom prst="rect">
            <a:avLst/>
          </a:prstGeom>
        </p:spPr>
        <p:txBody>
          <a:bodyPr anchor="t" rtlCol="false" tIns="0" lIns="0" bIns="0" rIns="0">
            <a:spAutoFit/>
          </a:bodyPr>
          <a:lstStyle/>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renombraron las variables para facilitar su manejo</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extrajo la capacidad del telefono a valor numerico</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agrupo la edad de estudiantes en intervalos</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paso el numero de semestre a valor numerico</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 xml:space="preserve">Se agrupo la procedencia geografica </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simplifico la marcas de teléfono a las 5 mas usadas y el resto como otras</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Se clasifico la capacidad de telefono por gamas</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Clasifico del 1-5 el tiempo de uso del telefono</a:t>
            </a:r>
          </a:p>
          <a:p>
            <a:pPr algn="l" marL="561339" indent="-280669" lvl="1">
              <a:lnSpc>
                <a:spcPts val="2599"/>
              </a:lnSpc>
              <a:buAutoNum type="arabicPeriod" startAt="1"/>
            </a:pPr>
            <a:r>
              <a:rPr lang="en-US" b="true" sz="2599" spc="-51">
                <a:solidFill>
                  <a:srgbClr val="D5D5D5"/>
                </a:solidFill>
                <a:latin typeface="Poppins Bold"/>
                <a:ea typeface="Poppins Bold"/>
                <a:cs typeface="Poppins Bold"/>
                <a:sym typeface="Poppins Bold"/>
              </a:rPr>
              <a:t>Clasifico las variables por numericas y categoricas</a:t>
            </a:r>
          </a:p>
        </p:txBody>
      </p:sp>
      <p:sp>
        <p:nvSpPr>
          <p:cNvPr name="TextBox 8" id="8"/>
          <p:cNvSpPr txBox="true"/>
          <p:nvPr/>
        </p:nvSpPr>
        <p:spPr>
          <a:xfrm rot="0">
            <a:off x="1192275" y="5484686"/>
            <a:ext cx="8021696" cy="1806576"/>
          </a:xfrm>
          <a:prstGeom prst="rect">
            <a:avLst/>
          </a:prstGeom>
        </p:spPr>
        <p:txBody>
          <a:bodyPr anchor="t" rtlCol="false" tIns="0" lIns="0" bIns="0" rIns="0">
            <a:spAutoFit/>
          </a:bodyPr>
          <a:lstStyle/>
          <a:p>
            <a:pPr algn="l">
              <a:lnSpc>
                <a:spcPts val="6400"/>
              </a:lnSpc>
            </a:pPr>
            <a:r>
              <a:rPr lang="en-US" b="true" sz="8000" spc="-832">
                <a:solidFill>
                  <a:srgbClr val="D5D5D5"/>
                </a:solidFill>
                <a:latin typeface="Poppins Bold"/>
                <a:ea typeface="Poppins Bold"/>
                <a:cs typeface="Poppins Bold"/>
                <a:sym typeface="Poppins Bold"/>
              </a:rPr>
              <a:t>FEATURE ENGINEERING</a:t>
            </a:r>
          </a:p>
        </p:txBody>
      </p:sp>
      <p:sp>
        <p:nvSpPr>
          <p:cNvPr name="TextBox 9" id="9"/>
          <p:cNvSpPr txBox="true"/>
          <p:nvPr/>
        </p:nvSpPr>
        <p:spPr>
          <a:xfrm rot="0">
            <a:off x="1453686" y="7319838"/>
            <a:ext cx="8348845" cy="19608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Despues de la limpieza de datos nos damos cuenta que solo 481 Datos estan completos que esto es igual al 94.1% de nuestros Datos en total sin embargo se va a tomar los 511 Datos</a:t>
            </a:r>
          </a:p>
          <a:p>
            <a:pPr algn="just">
              <a:lnSpc>
                <a:spcPts val="2199"/>
              </a:lnSpc>
            </a:pPr>
          </a:p>
          <a:p>
            <a:pPr algn="just">
              <a:lnSpc>
                <a:spcPts val="2199"/>
              </a:lnSpc>
            </a:pPr>
            <a:r>
              <a:rPr lang="en-US" sz="2199" spc="-43">
                <a:solidFill>
                  <a:srgbClr val="D5D5D5"/>
                </a:solidFill>
                <a:latin typeface="Poppins"/>
                <a:ea typeface="Poppins"/>
                <a:cs typeface="Poppins"/>
                <a:sym typeface="Poppins"/>
              </a:rPr>
              <a:t>Asi que nuestras dimensiones serian (511, 17)</a:t>
            </a:r>
          </a:p>
          <a:p>
            <a:pPr algn="just">
              <a:lnSpc>
                <a:spcPts val="2199"/>
              </a:lnSpc>
            </a:pPr>
          </a:p>
        </p:txBody>
      </p:sp>
      <p:sp>
        <p:nvSpPr>
          <p:cNvPr name="TextBox 10" id="10"/>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160378" y="1380001"/>
            <a:ext cx="7759990"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ESTADISTICA  DESCRIPTIVA</a:t>
            </a:r>
          </a:p>
        </p:txBody>
      </p:sp>
      <p:sp>
        <p:nvSpPr>
          <p:cNvPr name="TextBox 3" id="3"/>
          <p:cNvSpPr txBox="true"/>
          <p:nvPr/>
        </p:nvSpPr>
        <p:spPr>
          <a:xfrm rot="0">
            <a:off x="1418917" y="4244257"/>
            <a:ext cx="7242913" cy="14490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Ingeniería en Sistemas     267       52.25%</a:t>
            </a:r>
          </a:p>
          <a:p>
            <a:pPr algn="l">
              <a:lnSpc>
                <a:spcPts val="2299"/>
              </a:lnSpc>
            </a:pPr>
            <a:r>
              <a:rPr lang="en-US" sz="2299" spc="-45">
                <a:solidFill>
                  <a:srgbClr val="D5D5D5"/>
                </a:solidFill>
                <a:latin typeface="Poppins"/>
                <a:ea typeface="Poppins"/>
                <a:cs typeface="Poppins"/>
                <a:sym typeface="Poppins"/>
              </a:rPr>
              <a:t>Ciencia de Datos           165             32.29%</a:t>
            </a:r>
          </a:p>
          <a:p>
            <a:pPr algn="l">
              <a:lnSpc>
                <a:spcPts val="2299"/>
              </a:lnSpc>
            </a:pPr>
            <a:r>
              <a:rPr lang="en-US" sz="2299" spc="-45">
                <a:solidFill>
                  <a:srgbClr val="D5D5D5"/>
                </a:solidFill>
                <a:latin typeface="Poppins"/>
                <a:ea typeface="Poppins"/>
                <a:cs typeface="Poppins"/>
                <a:sym typeface="Poppins"/>
              </a:rPr>
              <a:t>Inteligencia Artificial     77               15.07%</a:t>
            </a:r>
          </a:p>
          <a:p>
            <a:pPr algn="l">
              <a:lnSpc>
                <a:spcPts val="2299"/>
              </a:lnSpc>
            </a:pPr>
            <a:r>
              <a:rPr lang="en-US" sz="2299" spc="-45">
                <a:solidFill>
                  <a:srgbClr val="D5D5D5"/>
                </a:solidFill>
                <a:latin typeface="Poppins"/>
                <a:ea typeface="Poppins"/>
                <a:cs typeface="Poppins"/>
                <a:sym typeface="Poppins"/>
              </a:rPr>
              <a:t>Automotriz                   2                     00.39%</a:t>
            </a:r>
          </a:p>
          <a:p>
            <a:pPr algn="l">
              <a:lnSpc>
                <a:spcPts val="2299"/>
              </a:lnSpc>
            </a:pPr>
          </a:p>
        </p:txBody>
      </p:sp>
      <p:sp>
        <p:nvSpPr>
          <p:cNvPr name="TextBox 4" id="4"/>
          <p:cNvSpPr txBox="true"/>
          <p:nvPr/>
        </p:nvSpPr>
        <p:spPr>
          <a:xfrm rot="0">
            <a:off x="1418917" y="3781082"/>
            <a:ext cx="6080084" cy="663574"/>
          </a:xfrm>
          <a:prstGeom prst="rect">
            <a:avLst/>
          </a:prstGeom>
        </p:spPr>
        <p:txBody>
          <a:bodyPr anchor="t" rtlCol="false" tIns="0" lIns="0" bIns="0" rIns="0">
            <a:spAutoFit/>
          </a:bodyPr>
          <a:lstStyle/>
          <a:p>
            <a:pPr algn="l">
              <a:lnSpc>
                <a:spcPts val="2499"/>
              </a:lnSpc>
            </a:pPr>
            <a:r>
              <a:rPr lang="en-US" sz="2499" spc="-49" b="true">
                <a:solidFill>
                  <a:srgbClr val="D5D5D5"/>
                </a:solidFill>
                <a:latin typeface="Poppins Bold"/>
                <a:ea typeface="Poppins Bold"/>
                <a:cs typeface="Poppins Bold"/>
                <a:sym typeface="Poppins Bold"/>
              </a:rPr>
              <a:t>Distribución por carrera:</a:t>
            </a:r>
          </a:p>
          <a:p>
            <a:pPr algn="l">
              <a:lnSpc>
                <a:spcPts val="2499"/>
              </a:lnSpc>
            </a:pP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6</a:t>
            </a:r>
          </a:p>
        </p:txBody>
      </p:sp>
      <p:sp>
        <p:nvSpPr>
          <p:cNvPr name="TextBox 6" id="6"/>
          <p:cNvSpPr txBox="true"/>
          <p:nvPr/>
        </p:nvSpPr>
        <p:spPr>
          <a:xfrm rot="0">
            <a:off x="1418917" y="5969551"/>
            <a:ext cx="7242913" cy="8775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Hombre    374                 73.19%</a:t>
            </a:r>
          </a:p>
          <a:p>
            <a:pPr algn="l">
              <a:lnSpc>
                <a:spcPts val="2299"/>
              </a:lnSpc>
            </a:pPr>
            <a:r>
              <a:rPr lang="en-US" sz="2299" spc="-45">
                <a:solidFill>
                  <a:srgbClr val="D5D5D5"/>
                </a:solidFill>
                <a:latin typeface="Poppins"/>
                <a:ea typeface="Poppins"/>
                <a:cs typeface="Poppins"/>
                <a:sym typeface="Poppins"/>
              </a:rPr>
              <a:t>Muj</a:t>
            </a:r>
            <a:r>
              <a:rPr lang="en-US" sz="2299" spc="-45">
                <a:solidFill>
                  <a:srgbClr val="D5D5D5"/>
                </a:solidFill>
                <a:latin typeface="Poppins"/>
                <a:ea typeface="Poppins"/>
                <a:cs typeface="Poppins"/>
                <a:sym typeface="Poppins"/>
              </a:rPr>
              <a:t>er     137                      26.81%</a:t>
            </a:r>
          </a:p>
          <a:p>
            <a:pPr algn="l">
              <a:lnSpc>
                <a:spcPts val="2299"/>
              </a:lnSpc>
            </a:pPr>
          </a:p>
        </p:txBody>
      </p:sp>
      <p:sp>
        <p:nvSpPr>
          <p:cNvPr name="TextBox 7" id="7"/>
          <p:cNvSpPr txBox="true"/>
          <p:nvPr/>
        </p:nvSpPr>
        <p:spPr>
          <a:xfrm rot="0">
            <a:off x="1418917" y="5551118"/>
            <a:ext cx="6080084" cy="663574"/>
          </a:xfrm>
          <a:prstGeom prst="rect">
            <a:avLst/>
          </a:prstGeom>
        </p:spPr>
        <p:txBody>
          <a:bodyPr anchor="t" rtlCol="false" tIns="0" lIns="0" bIns="0" rIns="0">
            <a:spAutoFit/>
          </a:bodyPr>
          <a:lstStyle/>
          <a:p>
            <a:pPr algn="l">
              <a:lnSpc>
                <a:spcPts val="2499"/>
              </a:lnSpc>
            </a:pPr>
            <a:r>
              <a:rPr lang="en-US" sz="2499" spc="-49" b="true">
                <a:solidFill>
                  <a:srgbClr val="D5D5D5"/>
                </a:solidFill>
                <a:latin typeface="Poppins Bold"/>
                <a:ea typeface="Poppins Bold"/>
                <a:cs typeface="Poppins Bold"/>
                <a:sym typeface="Poppins Bold"/>
              </a:rPr>
              <a:t>Distribución por genero:</a:t>
            </a:r>
          </a:p>
          <a:p>
            <a:pPr algn="l">
              <a:lnSpc>
                <a:spcPts val="2499"/>
              </a:lnSpc>
            </a:pPr>
          </a:p>
        </p:txBody>
      </p:sp>
      <p:sp>
        <p:nvSpPr>
          <p:cNvPr name="TextBox 8" id="8"/>
          <p:cNvSpPr txBox="true"/>
          <p:nvPr/>
        </p:nvSpPr>
        <p:spPr>
          <a:xfrm rot="0">
            <a:off x="1418917" y="7123346"/>
            <a:ext cx="7242913" cy="11633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CDMX           275                   53.82%</a:t>
            </a:r>
          </a:p>
          <a:p>
            <a:pPr algn="l">
              <a:lnSpc>
                <a:spcPts val="2299"/>
              </a:lnSpc>
            </a:pPr>
            <a:r>
              <a:rPr lang="en-US" sz="2299" spc="-45">
                <a:solidFill>
                  <a:srgbClr val="D5D5D5"/>
                </a:solidFill>
                <a:latin typeface="Poppins"/>
                <a:ea typeface="Poppins"/>
                <a:cs typeface="Poppins"/>
                <a:sym typeface="Poppins"/>
              </a:rPr>
              <a:t>Edo. México    205               40.12%</a:t>
            </a:r>
          </a:p>
          <a:p>
            <a:pPr algn="l">
              <a:lnSpc>
                <a:spcPts val="2299"/>
              </a:lnSpc>
            </a:pPr>
            <a:r>
              <a:rPr lang="en-US" sz="2299" spc="-45">
                <a:solidFill>
                  <a:srgbClr val="D5D5D5"/>
                </a:solidFill>
                <a:latin typeface="Poppins"/>
                <a:ea typeface="Poppins"/>
                <a:cs typeface="Poppins"/>
                <a:sym typeface="Poppins"/>
              </a:rPr>
              <a:t xml:space="preserve">Otro </a:t>
            </a:r>
            <a:r>
              <a:rPr lang="en-US" sz="2299" spc="-45">
                <a:solidFill>
                  <a:srgbClr val="D5D5D5"/>
                </a:solidFill>
                <a:latin typeface="Poppins"/>
                <a:ea typeface="Poppins"/>
                <a:cs typeface="Poppins"/>
                <a:sym typeface="Poppins"/>
              </a:rPr>
              <a:t>estado     31                 06.07%</a:t>
            </a:r>
          </a:p>
          <a:p>
            <a:pPr algn="l">
              <a:lnSpc>
                <a:spcPts val="2299"/>
              </a:lnSpc>
            </a:pPr>
          </a:p>
        </p:txBody>
      </p:sp>
      <p:sp>
        <p:nvSpPr>
          <p:cNvPr name="TextBox 9" id="9"/>
          <p:cNvSpPr txBox="true"/>
          <p:nvPr/>
        </p:nvSpPr>
        <p:spPr>
          <a:xfrm rot="0">
            <a:off x="1418917" y="6686073"/>
            <a:ext cx="6080084" cy="663574"/>
          </a:xfrm>
          <a:prstGeom prst="rect">
            <a:avLst/>
          </a:prstGeom>
        </p:spPr>
        <p:txBody>
          <a:bodyPr anchor="t" rtlCol="false" tIns="0" lIns="0" bIns="0" rIns="0">
            <a:spAutoFit/>
          </a:bodyPr>
          <a:lstStyle/>
          <a:p>
            <a:pPr algn="l">
              <a:lnSpc>
                <a:spcPts val="2499"/>
              </a:lnSpc>
            </a:pPr>
            <a:r>
              <a:rPr lang="en-US" sz="2499" spc="-49" b="true">
                <a:solidFill>
                  <a:srgbClr val="D5D5D5"/>
                </a:solidFill>
                <a:latin typeface="Poppins Bold"/>
                <a:ea typeface="Poppins Bold"/>
                <a:cs typeface="Poppins Bold"/>
                <a:sym typeface="Poppins Bold"/>
              </a:rPr>
              <a:t>Distribución por procedencia:</a:t>
            </a:r>
          </a:p>
          <a:p>
            <a:pPr algn="l">
              <a:lnSpc>
                <a:spcPts val="2499"/>
              </a:lnSpc>
            </a:pPr>
          </a:p>
        </p:txBody>
      </p:sp>
      <p:sp>
        <p:nvSpPr>
          <p:cNvPr name="TextBox 10" id="10"/>
          <p:cNvSpPr txBox="true"/>
          <p:nvPr/>
        </p:nvSpPr>
        <p:spPr>
          <a:xfrm rot="0">
            <a:off x="8221343" y="6375950"/>
            <a:ext cx="8597470" cy="40976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POBLACIONES, MUESTRAS Y VARIABILIDAD</a:t>
            </a:r>
          </a:p>
          <a:p>
            <a:pPr algn="l">
              <a:lnSpc>
                <a:spcPts val="7680"/>
              </a:lnSpc>
            </a:pPr>
          </a:p>
        </p:txBody>
      </p:sp>
      <p:sp>
        <p:nvSpPr>
          <p:cNvPr name="TextBox 11" id="11"/>
          <p:cNvSpPr txBox="true"/>
          <p:nvPr/>
        </p:nvSpPr>
        <p:spPr>
          <a:xfrm rot="0">
            <a:off x="8661830" y="1057275"/>
            <a:ext cx="6477636" cy="349249"/>
          </a:xfrm>
          <a:prstGeom prst="rect">
            <a:avLst/>
          </a:prstGeom>
        </p:spPr>
        <p:txBody>
          <a:bodyPr anchor="t" rtlCol="false" tIns="0" lIns="0" bIns="0" rIns="0">
            <a:spAutoFit/>
          </a:bodyPr>
          <a:lstStyle/>
          <a:p>
            <a:pPr algn="l">
              <a:lnSpc>
                <a:spcPts val="2499"/>
              </a:lnSpc>
            </a:pPr>
            <a:r>
              <a:rPr lang="en-US" b="true" sz="2499" spc="-49">
                <a:solidFill>
                  <a:srgbClr val="D5D5D5"/>
                </a:solidFill>
                <a:latin typeface="Poppins Bold"/>
                <a:ea typeface="Poppins Bold"/>
                <a:cs typeface="Poppins Bold"/>
                <a:sym typeface="Poppins Bold"/>
              </a:rPr>
              <a:t>Poblacion objetivo:</a:t>
            </a:r>
          </a:p>
        </p:txBody>
      </p:sp>
      <p:sp>
        <p:nvSpPr>
          <p:cNvPr name="TextBox 12" id="12"/>
          <p:cNvSpPr txBox="true"/>
          <p:nvPr/>
        </p:nvSpPr>
        <p:spPr>
          <a:xfrm rot="0">
            <a:off x="8661830" y="1584471"/>
            <a:ext cx="7716498" cy="5918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Los estudiantes universitarios de carreras STEM en ESCOM.</a:t>
            </a:r>
          </a:p>
        </p:txBody>
      </p:sp>
      <p:sp>
        <p:nvSpPr>
          <p:cNvPr name="TextBox 13" id="13"/>
          <p:cNvSpPr txBox="true"/>
          <p:nvPr/>
        </p:nvSpPr>
        <p:spPr>
          <a:xfrm rot="0">
            <a:off x="8661830" y="2347741"/>
            <a:ext cx="6477636" cy="349249"/>
          </a:xfrm>
          <a:prstGeom prst="rect">
            <a:avLst/>
          </a:prstGeom>
        </p:spPr>
        <p:txBody>
          <a:bodyPr anchor="t" rtlCol="false" tIns="0" lIns="0" bIns="0" rIns="0">
            <a:spAutoFit/>
          </a:bodyPr>
          <a:lstStyle/>
          <a:p>
            <a:pPr algn="l">
              <a:lnSpc>
                <a:spcPts val="2499"/>
              </a:lnSpc>
            </a:pPr>
            <a:r>
              <a:rPr lang="en-US" b="true" sz="2499" spc="-49">
                <a:solidFill>
                  <a:srgbClr val="D5D5D5"/>
                </a:solidFill>
                <a:latin typeface="Poppins Bold"/>
                <a:ea typeface="Poppins Bold"/>
                <a:cs typeface="Poppins Bold"/>
                <a:sym typeface="Poppins Bold"/>
              </a:rPr>
              <a:t>Muestra:</a:t>
            </a:r>
          </a:p>
        </p:txBody>
      </p:sp>
      <p:sp>
        <p:nvSpPr>
          <p:cNvPr name="TextBox 14" id="14"/>
          <p:cNvSpPr txBox="true"/>
          <p:nvPr/>
        </p:nvSpPr>
        <p:spPr>
          <a:xfrm rot="0">
            <a:off x="8661830" y="2874937"/>
            <a:ext cx="8884181" cy="8775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511 estudiantes que respondieron la encuesta, de las carreras de Ciencia de Datos, Ingeniería en Sistemas, Inteligencia Artificial y Automotriz.</a:t>
            </a:r>
          </a:p>
        </p:txBody>
      </p:sp>
      <p:sp>
        <p:nvSpPr>
          <p:cNvPr name="TextBox 15" id="15"/>
          <p:cNvSpPr txBox="true"/>
          <p:nvPr/>
        </p:nvSpPr>
        <p:spPr>
          <a:xfrm rot="0">
            <a:off x="8661830" y="3923957"/>
            <a:ext cx="6477636" cy="349249"/>
          </a:xfrm>
          <a:prstGeom prst="rect">
            <a:avLst/>
          </a:prstGeom>
        </p:spPr>
        <p:txBody>
          <a:bodyPr anchor="t" rtlCol="false" tIns="0" lIns="0" bIns="0" rIns="0">
            <a:spAutoFit/>
          </a:bodyPr>
          <a:lstStyle/>
          <a:p>
            <a:pPr algn="l">
              <a:lnSpc>
                <a:spcPts val="2499"/>
              </a:lnSpc>
            </a:pPr>
            <a:r>
              <a:rPr lang="en-US" b="true" sz="2499" spc="-49">
                <a:solidFill>
                  <a:srgbClr val="D5D5D5"/>
                </a:solidFill>
                <a:latin typeface="Poppins Bold"/>
                <a:ea typeface="Poppins Bold"/>
                <a:cs typeface="Poppins Bold"/>
                <a:sym typeface="Poppins Bold"/>
              </a:rPr>
              <a:t>Tipo de muestreo:</a:t>
            </a:r>
          </a:p>
        </p:txBody>
      </p:sp>
      <p:sp>
        <p:nvSpPr>
          <p:cNvPr name="TextBox 16" id="16"/>
          <p:cNvSpPr txBox="true"/>
          <p:nvPr/>
        </p:nvSpPr>
        <p:spPr>
          <a:xfrm rot="0">
            <a:off x="8661830" y="4451153"/>
            <a:ext cx="7716498" cy="5918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No probabilístico por conveniencia (formulario enviado a grupos de clase).</a:t>
            </a:r>
          </a:p>
        </p:txBody>
      </p:sp>
      <p:sp>
        <p:nvSpPr>
          <p:cNvPr name="TextBox 17" id="17"/>
          <p:cNvSpPr txBox="true"/>
          <p:nvPr/>
        </p:nvSpPr>
        <p:spPr>
          <a:xfrm rot="0">
            <a:off x="8661830" y="5219283"/>
            <a:ext cx="6477636" cy="349249"/>
          </a:xfrm>
          <a:prstGeom prst="rect">
            <a:avLst/>
          </a:prstGeom>
        </p:spPr>
        <p:txBody>
          <a:bodyPr anchor="t" rtlCol="false" tIns="0" lIns="0" bIns="0" rIns="0">
            <a:spAutoFit/>
          </a:bodyPr>
          <a:lstStyle/>
          <a:p>
            <a:pPr algn="l">
              <a:lnSpc>
                <a:spcPts val="2499"/>
              </a:lnSpc>
            </a:pPr>
            <a:r>
              <a:rPr lang="en-US" b="true" sz="2499" spc="-49">
                <a:solidFill>
                  <a:srgbClr val="D5D5D5"/>
                </a:solidFill>
                <a:latin typeface="Poppins Bold"/>
                <a:ea typeface="Poppins Bold"/>
                <a:cs typeface="Poppins Bold"/>
                <a:sym typeface="Poppins Bold"/>
              </a:rPr>
              <a:t>Variables recopiladas:</a:t>
            </a:r>
          </a:p>
        </p:txBody>
      </p:sp>
      <p:sp>
        <p:nvSpPr>
          <p:cNvPr name="TextBox 18" id="18"/>
          <p:cNvSpPr txBox="true"/>
          <p:nvPr/>
        </p:nvSpPr>
        <p:spPr>
          <a:xfrm rot="0">
            <a:off x="8661830" y="5746479"/>
            <a:ext cx="8884181" cy="5918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 xml:space="preserve">15 variables que cubren datos demográficos, académicos y de consumo tecnológico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201187" y="4044119"/>
            <a:ext cx="7058113" cy="5214181"/>
          </a:xfrm>
          <a:custGeom>
            <a:avLst/>
            <a:gdLst/>
            <a:ahLst/>
            <a:cxnLst/>
            <a:rect r="r" b="b" t="t" l="l"/>
            <a:pathLst>
              <a:path h="5214181" w="7058113">
                <a:moveTo>
                  <a:pt x="0" y="0"/>
                </a:moveTo>
                <a:lnTo>
                  <a:pt x="7058113" y="0"/>
                </a:lnTo>
                <a:lnTo>
                  <a:pt x="7058113" y="5214181"/>
                </a:lnTo>
                <a:lnTo>
                  <a:pt x="0" y="5214181"/>
                </a:lnTo>
                <a:lnTo>
                  <a:pt x="0" y="0"/>
                </a:lnTo>
                <a:close/>
              </a:path>
            </a:pathLst>
          </a:custGeom>
          <a:blipFill>
            <a:blip r:embed="rId2"/>
            <a:stretch>
              <a:fillRect l="0" t="0" r="0" b="0"/>
            </a:stretch>
          </a:blipFill>
        </p:spPr>
      </p:sp>
      <p:sp>
        <p:nvSpPr>
          <p:cNvPr name="TextBox 3" id="3"/>
          <p:cNvSpPr txBox="true"/>
          <p:nvPr/>
        </p:nvSpPr>
        <p:spPr>
          <a:xfrm rot="0">
            <a:off x="4401945" y="1304925"/>
            <a:ext cx="9211414"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CENTRALIZACION Y DISPERSIÓN</a:t>
            </a:r>
          </a:p>
        </p:txBody>
      </p:sp>
      <p:sp>
        <p:nvSpPr>
          <p:cNvPr name="TextBox 4" id="4"/>
          <p:cNvSpPr txBox="true"/>
          <p:nvPr/>
        </p:nvSpPr>
        <p:spPr>
          <a:xfrm rot="0">
            <a:off x="1234539" y="5238107"/>
            <a:ext cx="6053529" cy="805815"/>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Comparamos media y mediana para detectar asimetrías en las distribuciones:</a:t>
            </a:r>
          </a:p>
          <a:p>
            <a:pPr algn="l">
              <a:lnSpc>
                <a:spcPts val="2199"/>
              </a:lnSpc>
            </a:pPr>
          </a:p>
        </p:txBody>
      </p:sp>
      <p:sp>
        <p:nvSpPr>
          <p:cNvPr name="TextBox 5" id="5"/>
          <p:cNvSpPr txBox="true"/>
          <p:nvPr/>
        </p:nvSpPr>
        <p:spPr>
          <a:xfrm rot="0">
            <a:off x="1467287" y="5930574"/>
            <a:ext cx="4904994" cy="1765300"/>
          </a:xfrm>
          <a:prstGeom prst="rect">
            <a:avLst/>
          </a:prstGeom>
        </p:spPr>
        <p:txBody>
          <a:bodyPr anchor="t" rtlCol="false" tIns="0" lIns="0" bIns="0" rIns="0">
            <a:spAutoFit/>
          </a:bodyPr>
          <a:lstStyle/>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 mediana: distribución simétrica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&gt; mediana: sesgo positivo (cola derecha)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&lt; mediana: sesgo negativo (cola izquierda)</a:t>
            </a:r>
          </a:p>
          <a:p>
            <a:pPr algn="l">
              <a:lnSpc>
                <a:spcPts val="1999"/>
              </a:lnSpc>
            </a:pPr>
          </a:p>
        </p:txBody>
      </p:sp>
      <p:sp>
        <p:nvSpPr>
          <p:cNvPr name="TextBox 6" id="6"/>
          <p:cNvSpPr txBox="true"/>
          <p:nvPr/>
        </p:nvSpPr>
        <p:spPr>
          <a:xfrm rot="0">
            <a:off x="7894505" y="5940099"/>
            <a:ext cx="3232603" cy="303530"/>
          </a:xfrm>
          <a:prstGeom prst="rect">
            <a:avLst/>
          </a:prstGeom>
        </p:spPr>
        <p:txBody>
          <a:bodyPr anchor="t" rtlCol="false" tIns="0" lIns="0" bIns="0" rIns="0">
            <a:spAutoFit/>
          </a:bodyPr>
          <a:lstStyle/>
          <a:p>
            <a:pPr algn="l">
              <a:lnSpc>
                <a:spcPts val="2199"/>
              </a:lnSpc>
            </a:pPr>
            <a:r>
              <a:rPr lang="en-US" b="true" sz="2199" spc="-43">
                <a:solidFill>
                  <a:srgbClr val="D5D5D5"/>
                </a:solidFill>
                <a:latin typeface="Poppins Bold"/>
                <a:ea typeface="Poppins Bold"/>
                <a:cs typeface="Poppins Bold"/>
                <a:sym typeface="Poppins Bold"/>
              </a:rPr>
              <a:t>Edad</a:t>
            </a:r>
          </a:p>
        </p:txBody>
      </p:sp>
      <p:sp>
        <p:nvSpPr>
          <p:cNvPr name="TextBox 7" id="7"/>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7</a:t>
            </a:r>
          </a:p>
        </p:txBody>
      </p:sp>
      <p:sp>
        <p:nvSpPr>
          <p:cNvPr name="TextBox 8" id="8"/>
          <p:cNvSpPr txBox="true"/>
          <p:nvPr/>
        </p:nvSpPr>
        <p:spPr>
          <a:xfrm rot="0">
            <a:off x="1028700" y="3469643"/>
            <a:ext cx="8606268" cy="2574279"/>
          </a:xfrm>
          <a:prstGeom prst="rect">
            <a:avLst/>
          </a:prstGeom>
        </p:spPr>
        <p:txBody>
          <a:bodyPr anchor="t" rtlCol="false" tIns="0" lIns="0" bIns="0" rIns="0">
            <a:spAutoFit/>
          </a:bodyPr>
          <a:lstStyle/>
          <a:p>
            <a:pPr algn="l">
              <a:lnSpc>
                <a:spcPts val="6326"/>
              </a:lnSpc>
            </a:pPr>
            <a:r>
              <a:rPr lang="en-US" b="true" sz="7908" spc="-822">
                <a:solidFill>
                  <a:srgbClr val="D5D5D5"/>
                </a:solidFill>
                <a:latin typeface="Poppins Ultra-Bold"/>
                <a:ea typeface="Poppins Ultra-Bold"/>
                <a:cs typeface="Poppins Ultra-Bold"/>
                <a:sym typeface="Poppins Ultra-Bold"/>
              </a:rPr>
              <a:t>MEDIA Y MEDIANA MUESTRALES</a:t>
            </a:r>
          </a:p>
          <a:p>
            <a:pPr algn="l">
              <a:lnSpc>
                <a:spcPts val="6326"/>
              </a:lnSpc>
            </a:pPr>
          </a:p>
        </p:txBody>
      </p:sp>
      <p:sp>
        <p:nvSpPr>
          <p:cNvPr name="TextBox 9" id="9"/>
          <p:cNvSpPr txBox="true"/>
          <p:nvPr/>
        </p:nvSpPr>
        <p:spPr>
          <a:xfrm rot="0">
            <a:off x="7040282" y="6476039"/>
            <a:ext cx="3051147" cy="1457960"/>
          </a:xfrm>
          <a:prstGeom prst="rect">
            <a:avLst/>
          </a:prstGeom>
        </p:spPr>
        <p:txBody>
          <a:bodyPr anchor="t" rtlCol="false" tIns="0" lIns="0" bIns="0" rIns="0">
            <a:spAutoFit/>
          </a:bodyPr>
          <a:lstStyle/>
          <a:p>
            <a:pPr algn="l" marL="410208" indent="-205104" lvl="1">
              <a:lnSpc>
                <a:spcPts val="1899"/>
              </a:lnSpc>
              <a:buFont typeface="Arial"/>
              <a:buChar char="•"/>
            </a:pPr>
            <a:r>
              <a:rPr lang="en-US" sz="1899" spc="-37">
                <a:solidFill>
                  <a:srgbClr val="D5D5D5"/>
                </a:solidFill>
                <a:latin typeface="Poppins"/>
                <a:ea typeface="Poppins"/>
                <a:cs typeface="Poppins"/>
                <a:sym typeface="Poppins"/>
              </a:rPr>
              <a:t>Media (x̄): 20.35</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Mediana (x̃): 20.0</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Diferencia: 0.35</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a:t>
            </a:r>
            <a:r>
              <a:rPr lang="en-US" sz="1899" spc="-37">
                <a:solidFill>
                  <a:srgbClr val="D5D5D5"/>
                </a:solidFill>
                <a:latin typeface="Poppins"/>
                <a:ea typeface="Poppins"/>
                <a:cs typeface="Poppins"/>
                <a:sym typeface="Poppins"/>
              </a:rPr>
              <a:t xml:space="preserve"> Coeficiente de asimetría: 0.565</a:t>
            </a:r>
          </a:p>
          <a:p>
            <a:pPr algn="l">
              <a:lnSpc>
                <a:spcPts val="1899"/>
              </a:lnSpc>
            </a:pPr>
          </a:p>
        </p:txBody>
      </p:sp>
      <p:sp>
        <p:nvSpPr>
          <p:cNvPr name="TextBox 10" id="10"/>
          <p:cNvSpPr txBox="true"/>
          <p:nvPr/>
        </p:nvSpPr>
        <p:spPr>
          <a:xfrm rot="0">
            <a:off x="1652378" y="8276590"/>
            <a:ext cx="7858429" cy="981710"/>
          </a:xfrm>
          <a:prstGeom prst="rect">
            <a:avLst/>
          </a:prstGeom>
        </p:spPr>
        <p:txBody>
          <a:bodyPr anchor="t" rtlCol="false" tIns="0" lIns="0" bIns="0" rIns="0">
            <a:spAutoFit/>
          </a:bodyPr>
          <a:lstStyle/>
          <a:p>
            <a:pPr algn="l">
              <a:lnSpc>
                <a:spcPts val="1899"/>
              </a:lnSpc>
            </a:pPr>
            <a:r>
              <a:rPr lang="en-US" sz="1899" spc="-37">
                <a:solidFill>
                  <a:srgbClr val="D5D5D5"/>
                </a:solidFill>
                <a:latin typeface="Poppins"/>
                <a:ea typeface="Poppins"/>
                <a:cs typeface="Poppins"/>
                <a:sym typeface="Poppins"/>
              </a:rPr>
              <a:t>La mayoría de los estudiantes tienen alrededor de 20 años, pero hay algunos estudiantes más grandes que “jalan” el promedio ligeramente hacia arriba. Aun así, la distribución es bastante equilibrada.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7606612" y="3320724"/>
            <a:ext cx="9652688" cy="5683020"/>
          </a:xfrm>
          <a:custGeom>
            <a:avLst/>
            <a:gdLst/>
            <a:ahLst/>
            <a:cxnLst/>
            <a:rect r="r" b="b" t="t" l="l"/>
            <a:pathLst>
              <a:path h="5683020" w="9652688">
                <a:moveTo>
                  <a:pt x="0" y="0"/>
                </a:moveTo>
                <a:lnTo>
                  <a:pt x="9652688" y="0"/>
                </a:lnTo>
                <a:lnTo>
                  <a:pt x="9652688" y="5683020"/>
                </a:lnTo>
                <a:lnTo>
                  <a:pt x="0" y="5683020"/>
                </a:lnTo>
                <a:lnTo>
                  <a:pt x="0" y="0"/>
                </a:lnTo>
                <a:close/>
              </a:path>
            </a:pathLst>
          </a:custGeom>
          <a:blipFill>
            <a:blip r:embed="rId2"/>
            <a:stretch>
              <a:fillRect l="0" t="0" r="0" b="0"/>
            </a:stretch>
          </a:blipFill>
        </p:spPr>
      </p:sp>
      <p:sp>
        <p:nvSpPr>
          <p:cNvPr name="TextBox 3" id="3"/>
          <p:cNvSpPr txBox="true"/>
          <p:nvPr/>
        </p:nvSpPr>
        <p:spPr>
          <a:xfrm rot="0">
            <a:off x="1325414" y="3339774"/>
            <a:ext cx="6053529" cy="805815"/>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Comparamos media y mediana para detectar asimetrías en las distribuciones:</a:t>
            </a:r>
          </a:p>
          <a:p>
            <a:pPr algn="l">
              <a:lnSpc>
                <a:spcPts val="2199"/>
              </a:lnSpc>
            </a:pPr>
          </a:p>
        </p:txBody>
      </p:sp>
      <p:sp>
        <p:nvSpPr>
          <p:cNvPr name="TextBox 4" id="4"/>
          <p:cNvSpPr txBox="true"/>
          <p:nvPr/>
        </p:nvSpPr>
        <p:spPr>
          <a:xfrm rot="0">
            <a:off x="1558162" y="4032242"/>
            <a:ext cx="4904994" cy="1765300"/>
          </a:xfrm>
          <a:prstGeom prst="rect">
            <a:avLst/>
          </a:prstGeom>
        </p:spPr>
        <p:txBody>
          <a:bodyPr anchor="t" rtlCol="false" tIns="0" lIns="0" bIns="0" rIns="0">
            <a:spAutoFit/>
          </a:bodyPr>
          <a:lstStyle/>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 mediana: distribución simétrica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&gt; mediana: sesgo positivo (cola derecha)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&lt; mediana: sesgo negativo (cola izquierda)</a:t>
            </a:r>
          </a:p>
          <a:p>
            <a:pPr algn="l">
              <a:lnSpc>
                <a:spcPts val="1999"/>
              </a:lnSpc>
            </a:pPr>
          </a:p>
        </p:txBody>
      </p:sp>
      <p:sp>
        <p:nvSpPr>
          <p:cNvPr name="TextBox 5" id="5"/>
          <p:cNvSpPr txBox="true"/>
          <p:nvPr/>
        </p:nvSpPr>
        <p:spPr>
          <a:xfrm rot="0">
            <a:off x="2473949" y="6364368"/>
            <a:ext cx="3232603" cy="303530"/>
          </a:xfrm>
          <a:prstGeom prst="rect">
            <a:avLst/>
          </a:prstGeom>
        </p:spPr>
        <p:txBody>
          <a:bodyPr anchor="t" rtlCol="false" tIns="0" lIns="0" bIns="0" rIns="0">
            <a:spAutoFit/>
          </a:bodyPr>
          <a:lstStyle/>
          <a:p>
            <a:pPr algn="l">
              <a:lnSpc>
                <a:spcPts val="2199"/>
              </a:lnSpc>
            </a:pPr>
            <a:r>
              <a:rPr lang="en-US" b="true" sz="2199" spc="-43">
                <a:solidFill>
                  <a:srgbClr val="D5D5D5"/>
                </a:solidFill>
                <a:latin typeface="Poppins Bold"/>
                <a:ea typeface="Poppins Bold"/>
                <a:cs typeface="Poppins Bold"/>
                <a:sym typeface="Poppins Bold"/>
              </a:rPr>
              <a:t>Capacidad</a:t>
            </a:r>
          </a:p>
        </p:txBody>
      </p:sp>
      <p:sp>
        <p:nvSpPr>
          <p:cNvPr name="TextBox 6" id="6"/>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8</a:t>
            </a:r>
          </a:p>
        </p:txBody>
      </p:sp>
      <p:sp>
        <p:nvSpPr>
          <p:cNvPr name="TextBox 7" id="7"/>
          <p:cNvSpPr txBox="true"/>
          <p:nvPr/>
        </p:nvSpPr>
        <p:spPr>
          <a:xfrm rot="0">
            <a:off x="1028700" y="1446212"/>
            <a:ext cx="8606268" cy="2574279"/>
          </a:xfrm>
          <a:prstGeom prst="rect">
            <a:avLst/>
          </a:prstGeom>
        </p:spPr>
        <p:txBody>
          <a:bodyPr anchor="t" rtlCol="false" tIns="0" lIns="0" bIns="0" rIns="0">
            <a:spAutoFit/>
          </a:bodyPr>
          <a:lstStyle/>
          <a:p>
            <a:pPr algn="l">
              <a:lnSpc>
                <a:spcPts val="6326"/>
              </a:lnSpc>
            </a:pPr>
            <a:r>
              <a:rPr lang="en-US" b="true" sz="7908" spc="-822">
                <a:solidFill>
                  <a:srgbClr val="D5D5D5"/>
                </a:solidFill>
                <a:latin typeface="Poppins Ultra-Bold"/>
                <a:ea typeface="Poppins Ultra-Bold"/>
                <a:cs typeface="Poppins Ultra-Bold"/>
                <a:sym typeface="Poppins Ultra-Bold"/>
              </a:rPr>
              <a:t>MEDIA Y MEDIANA MUESTRALES</a:t>
            </a:r>
          </a:p>
          <a:p>
            <a:pPr algn="l">
              <a:lnSpc>
                <a:spcPts val="6326"/>
              </a:lnSpc>
            </a:pPr>
          </a:p>
        </p:txBody>
      </p:sp>
      <p:sp>
        <p:nvSpPr>
          <p:cNvPr name="TextBox 8" id="8"/>
          <p:cNvSpPr txBox="true"/>
          <p:nvPr/>
        </p:nvSpPr>
        <p:spPr>
          <a:xfrm rot="0">
            <a:off x="2473949" y="6816316"/>
            <a:ext cx="4904994" cy="1219835"/>
          </a:xfrm>
          <a:prstGeom prst="rect">
            <a:avLst/>
          </a:prstGeom>
        </p:spPr>
        <p:txBody>
          <a:bodyPr anchor="t" rtlCol="false" tIns="0" lIns="0" bIns="0" rIns="0">
            <a:spAutoFit/>
          </a:bodyPr>
          <a:lstStyle/>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Media (x̄): 220.68</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Mediana (x̃): 128.0</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Diferencia: 92.68</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a:t>
            </a:r>
            <a:r>
              <a:rPr lang="en-US" sz="1899" spc="-37">
                <a:solidFill>
                  <a:srgbClr val="D5D5D5"/>
                </a:solidFill>
                <a:latin typeface="Poppins"/>
                <a:ea typeface="Poppins"/>
                <a:cs typeface="Poppins"/>
                <a:sym typeface="Poppins"/>
              </a:rPr>
              <a:t xml:space="preserve"> Coeficiente de asimetría: 3.703</a:t>
            </a:r>
          </a:p>
          <a:p>
            <a:pPr algn="l">
              <a:lnSpc>
                <a:spcPts val="1899"/>
              </a:lnSpc>
            </a:pPr>
          </a:p>
        </p:txBody>
      </p:sp>
      <p:sp>
        <p:nvSpPr>
          <p:cNvPr name="TextBox 9" id="9"/>
          <p:cNvSpPr txBox="true"/>
          <p:nvPr/>
        </p:nvSpPr>
        <p:spPr>
          <a:xfrm rot="0">
            <a:off x="9634968" y="2100890"/>
            <a:ext cx="7031466" cy="1219835"/>
          </a:xfrm>
          <a:prstGeom prst="rect">
            <a:avLst/>
          </a:prstGeom>
        </p:spPr>
        <p:txBody>
          <a:bodyPr anchor="t" rtlCol="false" tIns="0" lIns="0" bIns="0" rIns="0">
            <a:spAutoFit/>
          </a:bodyPr>
          <a:lstStyle/>
          <a:p>
            <a:pPr algn="l">
              <a:lnSpc>
                <a:spcPts val="1899"/>
              </a:lnSpc>
            </a:pPr>
            <a:r>
              <a:rPr lang="en-US" sz="1899" spc="-37">
                <a:solidFill>
                  <a:srgbClr val="D5D5D5"/>
                </a:solidFill>
                <a:latin typeface="Poppins"/>
                <a:ea typeface="Poppins"/>
                <a:cs typeface="Poppins"/>
                <a:sym typeface="Poppins"/>
              </a:rPr>
              <a:t>La mayoría de los estudiantes tienen teléfonos de 128 GB, pero existen algunos con capacidades muy altas (como 512 GB o más), lo que hace que el promedio suba mucho.</a:t>
            </a:r>
          </a:p>
          <a:p>
            <a:pPr algn="l">
              <a:lnSpc>
                <a:spcPts val="1899"/>
              </a:lnSpc>
            </a:pPr>
          </a:p>
          <a:p>
            <a:pPr algn="l">
              <a:lnSpc>
                <a:spcPts val="18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8929300" y="2803330"/>
            <a:ext cx="8108616" cy="6344992"/>
          </a:xfrm>
          <a:custGeom>
            <a:avLst/>
            <a:gdLst/>
            <a:ahLst/>
            <a:cxnLst/>
            <a:rect r="r" b="b" t="t" l="l"/>
            <a:pathLst>
              <a:path h="6344992" w="8108616">
                <a:moveTo>
                  <a:pt x="0" y="0"/>
                </a:moveTo>
                <a:lnTo>
                  <a:pt x="8108616" y="0"/>
                </a:lnTo>
                <a:lnTo>
                  <a:pt x="8108616" y="6344992"/>
                </a:lnTo>
                <a:lnTo>
                  <a:pt x="0" y="6344992"/>
                </a:lnTo>
                <a:lnTo>
                  <a:pt x="0" y="0"/>
                </a:lnTo>
                <a:close/>
              </a:path>
            </a:pathLst>
          </a:custGeom>
          <a:blipFill>
            <a:blip r:embed="rId2"/>
            <a:stretch>
              <a:fillRect l="0" t="0" r="0" b="0"/>
            </a:stretch>
          </a:blipFill>
        </p:spPr>
      </p:sp>
      <p:sp>
        <p:nvSpPr>
          <p:cNvPr name="TextBox 3" id="3"/>
          <p:cNvSpPr txBox="true"/>
          <p:nvPr/>
        </p:nvSpPr>
        <p:spPr>
          <a:xfrm rot="0">
            <a:off x="1325414" y="3339774"/>
            <a:ext cx="6053529" cy="805815"/>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Comparamos media y mediana para detectar asimetrías en las distribuciones:</a:t>
            </a:r>
          </a:p>
          <a:p>
            <a:pPr algn="l">
              <a:lnSpc>
                <a:spcPts val="2199"/>
              </a:lnSpc>
            </a:pPr>
          </a:p>
        </p:txBody>
      </p:sp>
      <p:sp>
        <p:nvSpPr>
          <p:cNvPr name="TextBox 4" id="4"/>
          <p:cNvSpPr txBox="true"/>
          <p:nvPr/>
        </p:nvSpPr>
        <p:spPr>
          <a:xfrm rot="0">
            <a:off x="1558162" y="4032242"/>
            <a:ext cx="4904994" cy="1765300"/>
          </a:xfrm>
          <a:prstGeom prst="rect">
            <a:avLst/>
          </a:prstGeom>
        </p:spPr>
        <p:txBody>
          <a:bodyPr anchor="t" rtlCol="false" tIns="0" lIns="0" bIns="0" rIns="0">
            <a:spAutoFit/>
          </a:bodyPr>
          <a:lstStyle/>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 mediana: distribución simétrica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&gt; mediana: sesgo positivo (cola derecha)</a:t>
            </a:r>
          </a:p>
          <a:p>
            <a:pPr algn="l" marL="431797" indent="-215899" lvl="1">
              <a:lnSpc>
                <a:spcPts val="1999"/>
              </a:lnSpc>
              <a:buFont typeface="Arial"/>
              <a:buChar char="•"/>
            </a:pPr>
            <a:r>
              <a:rPr lang="en-US" sz="1999" spc="-39">
                <a:solidFill>
                  <a:srgbClr val="D5D5D5"/>
                </a:solidFill>
                <a:latin typeface="Poppins"/>
                <a:ea typeface="Poppins"/>
                <a:cs typeface="Poppins"/>
                <a:sym typeface="Poppins"/>
              </a:rPr>
              <a:t>Si media &lt; mediana: sesgo negativo (cola izquierda)</a:t>
            </a:r>
          </a:p>
          <a:p>
            <a:pPr algn="l">
              <a:lnSpc>
                <a:spcPts val="1999"/>
              </a:lnSpc>
            </a:pP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9</a:t>
            </a:r>
          </a:p>
        </p:txBody>
      </p:sp>
      <p:sp>
        <p:nvSpPr>
          <p:cNvPr name="TextBox 6" id="6"/>
          <p:cNvSpPr txBox="true"/>
          <p:nvPr/>
        </p:nvSpPr>
        <p:spPr>
          <a:xfrm rot="0">
            <a:off x="1028700" y="1446212"/>
            <a:ext cx="8606268" cy="2574279"/>
          </a:xfrm>
          <a:prstGeom prst="rect">
            <a:avLst/>
          </a:prstGeom>
        </p:spPr>
        <p:txBody>
          <a:bodyPr anchor="t" rtlCol="false" tIns="0" lIns="0" bIns="0" rIns="0">
            <a:spAutoFit/>
          </a:bodyPr>
          <a:lstStyle/>
          <a:p>
            <a:pPr algn="l">
              <a:lnSpc>
                <a:spcPts val="6326"/>
              </a:lnSpc>
            </a:pPr>
            <a:r>
              <a:rPr lang="en-US" b="true" sz="7908" spc="-822">
                <a:solidFill>
                  <a:srgbClr val="D5D5D5"/>
                </a:solidFill>
                <a:latin typeface="Poppins Ultra-Bold"/>
                <a:ea typeface="Poppins Ultra-Bold"/>
                <a:cs typeface="Poppins Ultra-Bold"/>
                <a:sym typeface="Poppins Ultra-Bold"/>
              </a:rPr>
              <a:t>MEDIA Y MEDIANA MUESTRALES</a:t>
            </a:r>
          </a:p>
          <a:p>
            <a:pPr algn="l">
              <a:lnSpc>
                <a:spcPts val="6326"/>
              </a:lnSpc>
            </a:pPr>
          </a:p>
        </p:txBody>
      </p:sp>
      <p:sp>
        <p:nvSpPr>
          <p:cNvPr name="TextBox 7" id="7"/>
          <p:cNvSpPr txBox="true"/>
          <p:nvPr/>
        </p:nvSpPr>
        <p:spPr>
          <a:xfrm rot="0">
            <a:off x="4024305" y="6230943"/>
            <a:ext cx="3232603" cy="303530"/>
          </a:xfrm>
          <a:prstGeom prst="rect">
            <a:avLst/>
          </a:prstGeom>
        </p:spPr>
        <p:txBody>
          <a:bodyPr anchor="t" rtlCol="false" tIns="0" lIns="0" bIns="0" rIns="0">
            <a:spAutoFit/>
          </a:bodyPr>
          <a:lstStyle/>
          <a:p>
            <a:pPr algn="l">
              <a:lnSpc>
                <a:spcPts val="2199"/>
              </a:lnSpc>
            </a:pPr>
            <a:r>
              <a:rPr lang="en-US" b="true" sz="2199" spc="-43">
                <a:solidFill>
                  <a:srgbClr val="D5D5D5"/>
                </a:solidFill>
                <a:latin typeface="Poppins Bold"/>
                <a:ea typeface="Poppins Bold"/>
                <a:cs typeface="Poppins Bold"/>
                <a:sym typeface="Poppins Bold"/>
              </a:rPr>
              <a:t>Semestre</a:t>
            </a:r>
          </a:p>
        </p:txBody>
      </p:sp>
      <p:sp>
        <p:nvSpPr>
          <p:cNvPr name="TextBox 8" id="8"/>
          <p:cNvSpPr txBox="true"/>
          <p:nvPr/>
        </p:nvSpPr>
        <p:spPr>
          <a:xfrm rot="0">
            <a:off x="4024305" y="6667822"/>
            <a:ext cx="4904994" cy="1219835"/>
          </a:xfrm>
          <a:prstGeom prst="rect">
            <a:avLst/>
          </a:prstGeom>
        </p:spPr>
        <p:txBody>
          <a:bodyPr anchor="t" rtlCol="false" tIns="0" lIns="0" bIns="0" rIns="0">
            <a:spAutoFit/>
          </a:bodyPr>
          <a:lstStyle/>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Media (x̄): 3.89</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Mediana (x̃): 4.0</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Diferencia: -0.11</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 xml:space="preserve"> </a:t>
            </a:r>
            <a:r>
              <a:rPr lang="en-US" sz="1899" spc="-37">
                <a:solidFill>
                  <a:srgbClr val="D5D5D5"/>
                </a:solidFill>
                <a:latin typeface="Poppins"/>
                <a:ea typeface="Poppins"/>
                <a:cs typeface="Poppins"/>
                <a:sym typeface="Poppins"/>
              </a:rPr>
              <a:t xml:space="preserve"> Coeficiente de asimetría: 0.503</a:t>
            </a:r>
          </a:p>
          <a:p>
            <a:pPr algn="l">
              <a:lnSpc>
                <a:spcPts val="1899"/>
              </a:lnSpc>
            </a:pPr>
          </a:p>
        </p:txBody>
      </p:sp>
      <p:sp>
        <p:nvSpPr>
          <p:cNvPr name="TextBox 9" id="9"/>
          <p:cNvSpPr txBox="true"/>
          <p:nvPr/>
        </p:nvSpPr>
        <p:spPr>
          <a:xfrm rot="0">
            <a:off x="1558162" y="8038465"/>
            <a:ext cx="7122341" cy="981710"/>
          </a:xfrm>
          <a:prstGeom prst="rect">
            <a:avLst/>
          </a:prstGeom>
        </p:spPr>
        <p:txBody>
          <a:bodyPr anchor="t" rtlCol="false" tIns="0" lIns="0" bIns="0" rIns="0">
            <a:spAutoFit/>
          </a:bodyPr>
          <a:lstStyle/>
          <a:p>
            <a:pPr algn="l">
              <a:lnSpc>
                <a:spcPts val="1899"/>
              </a:lnSpc>
            </a:pPr>
            <a:r>
              <a:rPr lang="en-US" sz="1899" spc="-37">
                <a:solidFill>
                  <a:srgbClr val="D5D5D5"/>
                </a:solidFill>
                <a:latin typeface="Poppins"/>
                <a:ea typeface="Poppins"/>
                <a:cs typeface="Poppins"/>
                <a:sym typeface="Poppins"/>
              </a:rPr>
              <a:t>La mayoría de los estudiantes están alrededor de 4° semestre.</a:t>
            </a:r>
          </a:p>
          <a:p>
            <a:pPr algn="l">
              <a:lnSpc>
                <a:spcPts val="1899"/>
              </a:lnSpc>
            </a:pPr>
            <a:r>
              <a:rPr lang="en-US" sz="1899" spc="-37">
                <a:solidFill>
                  <a:srgbClr val="D5D5D5"/>
                </a:solidFill>
                <a:latin typeface="Poppins"/>
                <a:ea typeface="Poppins"/>
                <a:cs typeface="Poppins"/>
                <a:sym typeface="Poppins"/>
              </a:rPr>
              <a:t xml:space="preserve"> Hay un ligero sesgo hacia semestres más altos, pero en general la distribución es bastante uniforme.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570111" y="4555981"/>
          <a:ext cx="1717308" cy="4702319"/>
        </p:xfrm>
        <a:graphic>
          <a:graphicData uri="http://schemas.openxmlformats.org/drawingml/2006/table">
            <a:tbl>
              <a:tblPr/>
              <a:tblGrid>
                <a:gridCol w="858654"/>
                <a:gridCol w="858654"/>
              </a:tblGrid>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131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20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109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21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84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22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61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18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59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1028700" y="5626290"/>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Edad:</a:t>
            </a:r>
          </a:p>
        </p:txBody>
      </p:sp>
      <p:sp>
        <p:nvSpPr>
          <p:cNvPr name="TextBox 4" id="4"/>
          <p:cNvSpPr txBox="true"/>
          <p:nvPr/>
        </p:nvSpPr>
        <p:spPr>
          <a:xfrm rot="0">
            <a:off x="1028700" y="1304925"/>
            <a:ext cx="6258719" cy="40976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UNIMODALIDAD Y MULTIMODALIDAD</a:t>
            </a:r>
          </a:p>
        </p:txBody>
      </p:sp>
      <p:sp>
        <p:nvSpPr>
          <p:cNvPr name="TextBox 5" id="5"/>
          <p:cNvSpPr txBox="true"/>
          <p:nvPr/>
        </p:nvSpPr>
        <p:spPr>
          <a:xfrm rot="0">
            <a:off x="7646315" y="1435100"/>
            <a:ext cx="7081437" cy="113220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Identificamos si las distribuciones tienen una sola moda (unimodal) o múltiples modas (multimodal), lo cual revela si hay subgrupos diferenciados en la población.</a:t>
            </a:r>
          </a:p>
        </p:txBody>
      </p:sp>
      <p:sp>
        <p:nvSpPr>
          <p:cNvPr name="TextBox 6" id="6"/>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10</a:t>
            </a:r>
          </a:p>
        </p:txBody>
      </p:sp>
      <p:sp>
        <p:nvSpPr>
          <p:cNvPr name="TextBox 7" id="7"/>
          <p:cNvSpPr txBox="true"/>
          <p:nvPr/>
        </p:nvSpPr>
        <p:spPr>
          <a:xfrm rot="0">
            <a:off x="12296018" y="3117562"/>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Semestre:</a:t>
            </a:r>
          </a:p>
        </p:txBody>
      </p:sp>
      <p:sp>
        <p:nvSpPr>
          <p:cNvPr name="TextBox 8" id="8"/>
          <p:cNvSpPr txBox="true"/>
          <p:nvPr/>
        </p:nvSpPr>
        <p:spPr>
          <a:xfrm rot="0">
            <a:off x="7761305" y="2887981"/>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Capacidad:</a:t>
            </a:r>
          </a:p>
        </p:txBody>
      </p:sp>
      <p:sp>
        <p:nvSpPr>
          <p:cNvPr name="TextBox 9" id="9"/>
          <p:cNvSpPr txBox="true"/>
          <p:nvPr/>
        </p:nvSpPr>
        <p:spPr>
          <a:xfrm rot="0">
            <a:off x="1028700" y="6173024"/>
            <a:ext cx="7081437"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Moda(s): [19]</a:t>
            </a:r>
          </a:p>
          <a:p>
            <a:pPr algn="just">
              <a:lnSpc>
                <a:spcPts val="2199"/>
              </a:lnSpc>
            </a:pPr>
            <a:r>
              <a:rPr lang="en-US" sz="2199" spc="-43">
                <a:solidFill>
                  <a:srgbClr val="D5D5D5"/>
                </a:solidFill>
                <a:latin typeface="Poppins"/>
                <a:ea typeface="Poppins"/>
                <a:cs typeface="Poppins"/>
                <a:sym typeface="Poppins"/>
              </a:rPr>
              <a:t xml:space="preserve">  Tabla de frecuencias (top 5):</a:t>
            </a:r>
          </a:p>
          <a:p>
            <a:pPr algn="just">
              <a:lnSpc>
                <a:spcPts val="2199"/>
              </a:lnSpc>
            </a:pPr>
          </a:p>
        </p:txBody>
      </p:sp>
      <p:sp>
        <p:nvSpPr>
          <p:cNvPr name="TextBox 10" id="10"/>
          <p:cNvSpPr txBox="true"/>
          <p:nvPr/>
        </p:nvSpPr>
        <p:spPr>
          <a:xfrm rot="0">
            <a:off x="12296018" y="3700001"/>
            <a:ext cx="7081437"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 xml:space="preserve">  Moda(s): [4]</a:t>
            </a:r>
          </a:p>
          <a:p>
            <a:pPr algn="just">
              <a:lnSpc>
                <a:spcPts val="2199"/>
              </a:lnSpc>
            </a:pPr>
            <a:r>
              <a:rPr lang="en-US" sz="2199" spc="-43">
                <a:solidFill>
                  <a:srgbClr val="D5D5D5"/>
                </a:solidFill>
                <a:latin typeface="Poppins"/>
                <a:ea typeface="Poppins"/>
                <a:cs typeface="Poppins"/>
                <a:sym typeface="Poppins"/>
              </a:rPr>
              <a:t xml:space="preserve">  Tabla de frecuencias (top 5):</a:t>
            </a:r>
          </a:p>
          <a:p>
            <a:pPr algn="just">
              <a:lnSpc>
                <a:spcPts val="2199"/>
              </a:lnSpc>
            </a:pPr>
          </a:p>
        </p:txBody>
      </p:sp>
      <p:sp>
        <p:nvSpPr>
          <p:cNvPr name="TextBox 11" id="11"/>
          <p:cNvSpPr txBox="true"/>
          <p:nvPr/>
        </p:nvSpPr>
        <p:spPr>
          <a:xfrm rot="0">
            <a:off x="7761305" y="3361785"/>
            <a:ext cx="7081437"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 xml:space="preserve"> Moda(s): [256.0]</a:t>
            </a:r>
          </a:p>
          <a:p>
            <a:pPr algn="just">
              <a:lnSpc>
                <a:spcPts val="2199"/>
              </a:lnSpc>
            </a:pPr>
            <a:r>
              <a:rPr lang="en-US" sz="2199" spc="-43">
                <a:solidFill>
                  <a:srgbClr val="D5D5D5"/>
                </a:solidFill>
                <a:latin typeface="Poppins"/>
                <a:ea typeface="Poppins"/>
                <a:cs typeface="Poppins"/>
                <a:sym typeface="Poppins"/>
              </a:rPr>
              <a:t xml:space="preserve">  Tabla de frecuencias (top 5):</a:t>
            </a:r>
          </a:p>
          <a:p>
            <a:pPr algn="just">
              <a:lnSpc>
                <a:spcPts val="2199"/>
              </a:lnSpc>
            </a:pPr>
          </a:p>
        </p:txBody>
      </p:sp>
      <p:graphicFrame>
        <p:nvGraphicFramePr>
          <p:cNvPr name="Table 12" id="12"/>
          <p:cNvGraphicFramePr>
            <a:graphicFrameLocks noGrp="true"/>
          </p:cNvGraphicFramePr>
          <p:nvPr/>
        </p:nvGraphicFramePr>
        <p:xfrm>
          <a:off x="9057414" y="4217765"/>
          <a:ext cx="1717308" cy="4702319"/>
        </p:xfrm>
        <a:graphic>
          <a:graphicData uri="http://schemas.openxmlformats.org/drawingml/2006/table">
            <a:tbl>
              <a:tblPr/>
              <a:tblGrid>
                <a:gridCol w="858654"/>
                <a:gridCol w="858654"/>
              </a:tblGrid>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256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195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128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182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64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57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512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51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32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18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13" id="13"/>
          <p:cNvGraphicFramePr>
            <a:graphicFrameLocks noGrp="true"/>
          </p:cNvGraphicFramePr>
          <p:nvPr/>
        </p:nvGraphicFramePr>
        <p:xfrm>
          <a:off x="13125434" y="4410581"/>
          <a:ext cx="1717308" cy="4702319"/>
        </p:xfrm>
        <a:graphic>
          <a:graphicData uri="http://schemas.openxmlformats.org/drawingml/2006/table">
            <a:tbl>
              <a:tblPr/>
              <a:tblGrid>
                <a:gridCol w="858654"/>
                <a:gridCol w="858654"/>
              </a:tblGrid>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113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b="true">
                          <a:solidFill>
                            <a:srgbClr val="FFFFFF"/>
                          </a:solidFill>
                          <a:latin typeface="Poppins Bold"/>
                          <a:ea typeface="Poppins Bold"/>
                          <a:cs typeface="Poppins Bold"/>
                          <a:sym typeface="Poppins Bold"/>
                        </a:rPr>
                        <a:t>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100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56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40464">
                <a:tc>
                  <a:txBody>
                    <a:bodyPr anchor="t" rtlCol="false"/>
                    <a:lstStyle/>
                    <a:p>
                      <a:pPr algn="ctr">
                        <a:lnSpc>
                          <a:spcPts val="2239"/>
                        </a:lnSpc>
                        <a:defRPr/>
                      </a:pPr>
                      <a:r>
                        <a:rPr lang="en-US" sz="1599">
                          <a:solidFill>
                            <a:srgbClr val="FFFFFF"/>
                          </a:solidFill>
                          <a:latin typeface="Poppins"/>
                          <a:ea typeface="Poppins"/>
                          <a:cs typeface="Poppins"/>
                          <a:sym typeface="Poppins"/>
                        </a:rPr>
                        <a:t>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239"/>
                        </a:lnSpc>
                        <a:defRPr/>
                      </a:pPr>
                      <a:r>
                        <a:rPr lang="en-US" sz="1599">
                          <a:solidFill>
                            <a:srgbClr val="FFFFFF"/>
                          </a:solidFill>
                          <a:latin typeface="Poppins"/>
                          <a:ea typeface="Poppins"/>
                          <a:cs typeface="Poppins"/>
                          <a:sym typeface="Poppins"/>
                        </a:rPr>
                        <a:t>52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4" id="14"/>
          <p:cNvSpPr txBox="true"/>
          <p:nvPr/>
        </p:nvSpPr>
        <p:spPr>
          <a:xfrm rot="-5400000">
            <a:off x="4390162" y="8164838"/>
            <a:ext cx="1592594" cy="3035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UNIMODAL</a:t>
            </a:r>
          </a:p>
        </p:txBody>
      </p:sp>
      <p:sp>
        <p:nvSpPr>
          <p:cNvPr name="TextBox 15" id="15"/>
          <p:cNvSpPr txBox="true"/>
          <p:nvPr/>
        </p:nvSpPr>
        <p:spPr>
          <a:xfrm rot="-5400000">
            <a:off x="12177372" y="6755376"/>
            <a:ext cx="1592594" cy="3035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UNIMODAL</a:t>
            </a:r>
          </a:p>
        </p:txBody>
      </p:sp>
      <p:sp>
        <p:nvSpPr>
          <p:cNvPr name="TextBox 16" id="16"/>
          <p:cNvSpPr txBox="true"/>
          <p:nvPr/>
        </p:nvSpPr>
        <p:spPr>
          <a:xfrm rot="-5400000">
            <a:off x="8109352" y="6572243"/>
            <a:ext cx="1592594" cy="3035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UNIMODAL</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5853340" y="5419725"/>
            <a:ext cx="11405960" cy="40976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VARIANZA MUESTRAL Y DESVIACIÓN ESTÁNDAR</a:t>
            </a:r>
          </a:p>
          <a:p>
            <a:pPr algn="l">
              <a:lnSpc>
                <a:spcPts val="7680"/>
              </a:lnSpc>
            </a:pPr>
          </a:p>
        </p:txBody>
      </p:sp>
      <p:sp>
        <p:nvSpPr>
          <p:cNvPr name="TextBox 3" id="3"/>
          <p:cNvSpPr txBox="true"/>
          <p:nvPr/>
        </p:nvSpPr>
        <p:spPr>
          <a:xfrm rot="0">
            <a:off x="6060188" y="8462010"/>
            <a:ext cx="10992264" cy="79629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La varianza muestral (s²) y la desviación estándar (s) cuantifican la dispersión de los datos alrededor de la media. Usamos el coeficiente de variación (CV = s/x̄ × 100%) para comparar dispersiones entre variables con distintas escalas.</a:t>
            </a: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11</a:t>
            </a:r>
          </a:p>
        </p:txBody>
      </p:sp>
      <p:graphicFrame>
        <p:nvGraphicFramePr>
          <p:cNvPr name="Table 5" id="5"/>
          <p:cNvGraphicFramePr>
            <a:graphicFrameLocks noGrp="true"/>
          </p:cNvGraphicFramePr>
          <p:nvPr/>
        </p:nvGraphicFramePr>
        <p:xfrm>
          <a:off x="1410374" y="2137833"/>
          <a:ext cx="16230600" cy="2406438"/>
        </p:xfrm>
        <a:graphic>
          <a:graphicData uri="http://schemas.openxmlformats.org/drawingml/2006/table">
            <a:tbl>
              <a:tblPr/>
              <a:tblGrid>
                <a:gridCol w="1803400"/>
                <a:gridCol w="1803400"/>
                <a:gridCol w="1803400"/>
                <a:gridCol w="1803400"/>
                <a:gridCol w="1803400"/>
                <a:gridCol w="1803400"/>
                <a:gridCol w="1803400"/>
                <a:gridCol w="1803400"/>
                <a:gridCol w="1803400"/>
              </a:tblGrid>
              <a:tr h="601610">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Variable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Media (x̄)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Varianza (s²)</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Desv. Std (s)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CV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Mínimo</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D9D9D9"/>
                          </a:solidFill>
                          <a:latin typeface="Open Sans"/>
                          <a:ea typeface="Open Sans"/>
                          <a:cs typeface="Open Sans"/>
                          <a:sym typeface="Open Sans"/>
                        </a:rPr>
                        <a:t>Maximo</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Rango</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610">
                <a:tc>
                  <a:txBody>
                    <a:bodyPr anchor="t" rtlCol="false"/>
                    <a:lstStyle/>
                    <a:p>
                      <a:pPr algn="r" marL="0" indent="0" lvl="0">
                        <a:lnSpc>
                          <a:spcPts val="2008"/>
                        </a:lnSpc>
                        <a:spcBef>
                          <a:spcPct val="0"/>
                        </a:spcBef>
                        <a:defRPr/>
                      </a:pPr>
                      <a:r>
                        <a:rPr lang="en-US" b="true" sz="1434" strike="noStrike" u="none">
                          <a:solidFill>
                            <a:srgbClr val="FFFFFF"/>
                          </a:solidFill>
                          <a:latin typeface="Open Sans Bold"/>
                          <a:ea typeface="Open Sans Bold"/>
                          <a:cs typeface="Open Sans Bold"/>
                          <a:sym typeface="Open Sans Bold"/>
                        </a:rPr>
                        <a:t>Edad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511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20.35</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2.97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1.72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8.5</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610">
                <a:tc>
                  <a:txBody>
                    <a:bodyPr anchor="t" rtlCol="false"/>
                    <a:lstStyle/>
                    <a:p>
                      <a:pPr algn="r">
                        <a:lnSpc>
                          <a:spcPts val="2008"/>
                        </a:lnSpc>
                        <a:defRPr/>
                      </a:pPr>
                      <a:r>
                        <a:rPr lang="en-US" b="true" sz="1434">
                          <a:solidFill>
                            <a:srgbClr val="FFFFFF"/>
                          </a:solidFill>
                          <a:latin typeface="Open Sans Bold"/>
                          <a:ea typeface="Open Sans Bold"/>
                          <a:cs typeface="Open Sans Bold"/>
                          <a:sym typeface="Open Sans Bold"/>
                        </a:rPr>
                        <a:t>Capacidad (GB)</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511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220.68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31433.79</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177.3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80.3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2048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2016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610">
                <a:tc>
                  <a:txBody>
                    <a:bodyPr anchor="t" rtlCol="false"/>
                    <a:lstStyle/>
                    <a:p>
                      <a:pPr algn="r">
                        <a:lnSpc>
                          <a:spcPts val="2008"/>
                        </a:lnSpc>
                        <a:defRPr/>
                      </a:pPr>
                      <a:r>
                        <a:rPr lang="en-US" b="true" sz="1434">
                          <a:solidFill>
                            <a:srgbClr val="FFFFFF"/>
                          </a:solidFill>
                          <a:latin typeface="Open Sans Bold"/>
                          <a:ea typeface="Open Sans Bold"/>
                          <a:cs typeface="Open Sans Bold"/>
                          <a:sym typeface="Open Sans Bold"/>
                        </a:rPr>
                        <a:t>Semestre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511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3.89</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3.47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1.86</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47.8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8</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bl>
          </a:graphicData>
        </a:graphic>
      </p:graphicFrame>
      <p:sp>
        <p:nvSpPr>
          <p:cNvPr name="TextBox 6" id="6"/>
          <p:cNvSpPr txBox="true"/>
          <p:nvPr/>
        </p:nvSpPr>
        <p:spPr>
          <a:xfrm rot="0">
            <a:off x="1028700" y="5172075"/>
            <a:ext cx="4309525" cy="336804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La variable Capacidad del dispositivo presenta la mayor dispersión relativa, indicando una alta heterogeneidad en el almacenamiento de los dispositivos utilizados por los estudiantes. En contraste, la Edad muestra una distribución homogénea, mientras que el Semestre presenta variabilidad intermedia, reflejando una muestra académicamente diversa.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763629" y="2729865"/>
            <a:ext cx="7622932" cy="6041174"/>
          </a:xfrm>
          <a:custGeom>
            <a:avLst/>
            <a:gdLst/>
            <a:ahLst/>
            <a:cxnLst/>
            <a:rect r="r" b="b" t="t" l="l"/>
            <a:pathLst>
              <a:path h="6041174" w="7622932">
                <a:moveTo>
                  <a:pt x="0" y="0"/>
                </a:moveTo>
                <a:lnTo>
                  <a:pt x="7622932" y="0"/>
                </a:lnTo>
                <a:lnTo>
                  <a:pt x="7622932" y="6041174"/>
                </a:lnTo>
                <a:lnTo>
                  <a:pt x="0" y="6041174"/>
                </a:lnTo>
                <a:lnTo>
                  <a:pt x="0" y="0"/>
                </a:lnTo>
                <a:close/>
              </a:path>
            </a:pathLst>
          </a:custGeom>
          <a:blipFill>
            <a:blip r:embed="rId2"/>
            <a:stretch>
              <a:fillRect l="0" t="0" r="0" b="0"/>
            </a:stretch>
          </a:blipFill>
        </p:spPr>
      </p:sp>
      <p:sp>
        <p:nvSpPr>
          <p:cNvPr name="TextBox 3" id="3"/>
          <p:cNvSpPr txBox="true"/>
          <p:nvPr/>
        </p:nvSpPr>
        <p:spPr>
          <a:xfrm rot="0">
            <a:off x="11224861" y="5172075"/>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Edad:</a:t>
            </a:r>
          </a:p>
        </p:txBody>
      </p:sp>
      <p:sp>
        <p:nvSpPr>
          <p:cNvPr name="TextBox 4" id="4"/>
          <p:cNvSpPr txBox="true"/>
          <p:nvPr/>
        </p:nvSpPr>
        <p:spPr>
          <a:xfrm rot="0">
            <a:off x="11863040" y="1304925"/>
            <a:ext cx="4735645" cy="31261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INTERCUARTILES</a:t>
            </a:r>
          </a:p>
          <a:p>
            <a:pPr algn="l">
              <a:lnSpc>
                <a:spcPts val="7680"/>
              </a:lnSpc>
            </a:pPr>
          </a:p>
        </p:txBody>
      </p:sp>
      <p:sp>
        <p:nvSpPr>
          <p:cNvPr name="TextBox 5" id="5"/>
          <p:cNvSpPr txBox="true"/>
          <p:nvPr/>
        </p:nvSpPr>
        <p:spPr>
          <a:xfrm rot="0">
            <a:off x="9765833" y="3354567"/>
            <a:ext cx="7493467"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Los cuartiles dividen la distribución en 4 partes iguales. El rango intercuartílico (IQR = Q3 - Q1) es una medida de dispersión robusta a outliers.</a:t>
            </a:r>
          </a:p>
        </p:txBody>
      </p:sp>
      <p:sp>
        <p:nvSpPr>
          <p:cNvPr name="TextBox 6" id="6"/>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12</a:t>
            </a:r>
          </a:p>
        </p:txBody>
      </p:sp>
      <p:sp>
        <p:nvSpPr>
          <p:cNvPr name="TextBox 7" id="7"/>
          <p:cNvSpPr txBox="true"/>
          <p:nvPr/>
        </p:nvSpPr>
        <p:spPr>
          <a:xfrm rot="0">
            <a:off x="10263230" y="5645964"/>
            <a:ext cx="5039846" cy="223710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 xml:space="preserve">  Q1 (25%): 19.0</a:t>
            </a:r>
          </a:p>
          <a:p>
            <a:pPr algn="just">
              <a:lnSpc>
                <a:spcPts val="2199"/>
              </a:lnSpc>
            </a:pPr>
            <a:r>
              <a:rPr lang="en-US" sz="2199" spc="-43">
                <a:solidFill>
                  <a:srgbClr val="D5D5D5"/>
                </a:solidFill>
                <a:latin typeface="Poppins"/>
                <a:ea typeface="Poppins"/>
                <a:cs typeface="Poppins"/>
                <a:sym typeface="Poppins"/>
              </a:rPr>
              <a:t xml:space="preserve">  Q2 (50%, mediana): 20.0</a:t>
            </a:r>
          </a:p>
          <a:p>
            <a:pPr algn="just">
              <a:lnSpc>
                <a:spcPts val="2199"/>
              </a:lnSpc>
            </a:pPr>
            <a:r>
              <a:rPr lang="en-US" sz="2199" spc="-43">
                <a:solidFill>
                  <a:srgbClr val="D5D5D5"/>
                </a:solidFill>
                <a:latin typeface="Poppins"/>
                <a:ea typeface="Poppins"/>
                <a:cs typeface="Poppins"/>
                <a:sym typeface="Poppins"/>
              </a:rPr>
              <a:t xml:space="preserve">  Q3 (75%): 21.0</a:t>
            </a:r>
          </a:p>
          <a:p>
            <a:pPr algn="just">
              <a:lnSpc>
                <a:spcPts val="2199"/>
              </a:lnSpc>
            </a:pPr>
            <a:r>
              <a:rPr lang="en-US" sz="2199" spc="-43">
                <a:solidFill>
                  <a:srgbClr val="D5D5D5"/>
                </a:solidFill>
                <a:latin typeface="Poppins"/>
                <a:ea typeface="Poppins"/>
                <a:cs typeface="Poppins"/>
                <a:sym typeface="Poppins"/>
              </a:rPr>
              <a:t xml:space="preserve">  IQR = Q3 - Q1: 2.0</a:t>
            </a:r>
          </a:p>
          <a:p>
            <a:pPr algn="just">
              <a:lnSpc>
                <a:spcPts val="2199"/>
              </a:lnSpc>
            </a:pPr>
            <a:r>
              <a:rPr lang="en-US" sz="2199" spc="-43">
                <a:solidFill>
                  <a:srgbClr val="D5D5D5"/>
                </a:solidFill>
                <a:latin typeface="Poppins"/>
                <a:ea typeface="Poppins"/>
                <a:cs typeface="Poppins"/>
                <a:sym typeface="Poppins"/>
              </a:rPr>
              <a:t xml:space="preserve">  Cerca inferior [Q1 - 1.5·IQR]: 16.0</a:t>
            </a:r>
          </a:p>
          <a:p>
            <a:pPr algn="just">
              <a:lnSpc>
                <a:spcPts val="2199"/>
              </a:lnSpc>
            </a:pPr>
            <a:r>
              <a:rPr lang="en-US" sz="2199" spc="-43">
                <a:solidFill>
                  <a:srgbClr val="D5D5D5"/>
                </a:solidFill>
                <a:latin typeface="Poppins"/>
                <a:ea typeface="Poppins"/>
                <a:cs typeface="Poppins"/>
                <a:sym typeface="Poppins"/>
              </a:rPr>
              <a:t xml:space="preserve">  Cerca superior [Q3 + 1.5·IQR]: 24.0</a:t>
            </a:r>
          </a:p>
          <a:p>
            <a:pPr algn="just">
              <a:lnSpc>
                <a:spcPts val="2199"/>
              </a:lnSpc>
            </a:pPr>
            <a:r>
              <a:rPr lang="en-US" sz="2199" spc="-43">
                <a:solidFill>
                  <a:srgbClr val="D5D5D5"/>
                </a:solidFill>
                <a:latin typeface="Poppins"/>
                <a:ea typeface="Poppins"/>
                <a:cs typeface="Poppins"/>
                <a:sym typeface="Poppins"/>
              </a:rPr>
              <a:t xml:space="preserve">  Outliers detectados: 0 (0.0%)</a:t>
            </a:r>
          </a:p>
          <a:p>
            <a:pPr algn="just">
              <a:lnSpc>
                <a:spcPts val="2199"/>
              </a:lnSpc>
            </a:pPr>
          </a:p>
        </p:txBody>
      </p:sp>
      <p:sp>
        <p:nvSpPr>
          <p:cNvPr name="TextBox 8" id="8"/>
          <p:cNvSpPr txBox="true"/>
          <p:nvPr/>
        </p:nvSpPr>
        <p:spPr>
          <a:xfrm rot="0">
            <a:off x="1028700" y="1435100"/>
            <a:ext cx="9234530"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La edad de los estudiantes es muy homogénea, concentrándose en un rango estrecho. Esto indica que la muestra es bastante uniforme en términos de edad.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8731531" y="3250042"/>
            <a:ext cx="7777680" cy="6008258"/>
          </a:xfrm>
          <a:custGeom>
            <a:avLst/>
            <a:gdLst/>
            <a:ahLst/>
            <a:cxnLst/>
            <a:rect r="r" b="b" t="t" l="l"/>
            <a:pathLst>
              <a:path h="6008258" w="7777680">
                <a:moveTo>
                  <a:pt x="0" y="0"/>
                </a:moveTo>
                <a:lnTo>
                  <a:pt x="7777680" y="0"/>
                </a:lnTo>
                <a:lnTo>
                  <a:pt x="7777680" y="6008258"/>
                </a:lnTo>
                <a:lnTo>
                  <a:pt x="0" y="6008258"/>
                </a:lnTo>
                <a:lnTo>
                  <a:pt x="0" y="0"/>
                </a:lnTo>
                <a:close/>
              </a:path>
            </a:pathLst>
          </a:custGeom>
          <a:blipFill>
            <a:blip r:embed="rId2"/>
            <a:stretch>
              <a:fillRect l="0" t="0" r="0" b="0"/>
            </a:stretch>
          </a:blipFill>
        </p:spPr>
      </p:sp>
      <p:sp>
        <p:nvSpPr>
          <p:cNvPr name="TextBox 3" id="3"/>
          <p:cNvSpPr txBox="true"/>
          <p:nvPr/>
        </p:nvSpPr>
        <p:spPr>
          <a:xfrm rot="0">
            <a:off x="1611397" y="1304925"/>
            <a:ext cx="8788664"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INTERCUARTILES</a:t>
            </a:r>
          </a:p>
          <a:p>
            <a:pPr algn="l">
              <a:lnSpc>
                <a:spcPts val="7680"/>
              </a:lnSpc>
            </a:pPr>
          </a:p>
        </p:txBody>
      </p:sp>
      <p:sp>
        <p:nvSpPr>
          <p:cNvPr name="TextBox 4" id="4"/>
          <p:cNvSpPr txBox="true"/>
          <p:nvPr/>
        </p:nvSpPr>
        <p:spPr>
          <a:xfrm rot="0">
            <a:off x="2460741" y="2389594"/>
            <a:ext cx="12800560" cy="57975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Los cuartiles dividen la distribución en 4 partes iguales. El rango intercuartílico (IQR = Q3 - Q1) es una medida de dispersión robusta a outliers.</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13</a:t>
            </a:r>
          </a:p>
        </p:txBody>
      </p:sp>
      <p:sp>
        <p:nvSpPr>
          <p:cNvPr name="TextBox 6" id="6"/>
          <p:cNvSpPr txBox="true"/>
          <p:nvPr/>
        </p:nvSpPr>
        <p:spPr>
          <a:xfrm rot="0">
            <a:off x="2678874" y="3737293"/>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Capacidad:</a:t>
            </a:r>
          </a:p>
        </p:txBody>
      </p:sp>
      <p:sp>
        <p:nvSpPr>
          <p:cNvPr name="TextBox 7" id="7"/>
          <p:cNvSpPr txBox="true"/>
          <p:nvPr/>
        </p:nvSpPr>
        <p:spPr>
          <a:xfrm rot="0">
            <a:off x="2460741" y="4341177"/>
            <a:ext cx="5039846" cy="223710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 xml:space="preserve">  Q1 (25%): 128.0</a:t>
            </a:r>
          </a:p>
          <a:p>
            <a:pPr algn="just">
              <a:lnSpc>
                <a:spcPts val="2199"/>
              </a:lnSpc>
            </a:pPr>
            <a:r>
              <a:rPr lang="en-US" sz="2199" spc="-43">
                <a:solidFill>
                  <a:srgbClr val="D5D5D5"/>
                </a:solidFill>
                <a:latin typeface="Poppins"/>
                <a:ea typeface="Poppins"/>
                <a:cs typeface="Poppins"/>
                <a:sym typeface="Poppins"/>
              </a:rPr>
              <a:t xml:space="preserve">  Q2 (50%, mediana): 128.0</a:t>
            </a:r>
          </a:p>
          <a:p>
            <a:pPr algn="just">
              <a:lnSpc>
                <a:spcPts val="2199"/>
              </a:lnSpc>
            </a:pPr>
            <a:r>
              <a:rPr lang="en-US" sz="2199" spc="-43">
                <a:solidFill>
                  <a:srgbClr val="D5D5D5"/>
                </a:solidFill>
                <a:latin typeface="Poppins"/>
                <a:ea typeface="Poppins"/>
                <a:cs typeface="Poppins"/>
                <a:sym typeface="Poppins"/>
              </a:rPr>
              <a:t xml:space="preserve">  Q3 (75%): 256.0</a:t>
            </a:r>
          </a:p>
          <a:p>
            <a:pPr algn="just">
              <a:lnSpc>
                <a:spcPts val="2199"/>
              </a:lnSpc>
            </a:pPr>
            <a:r>
              <a:rPr lang="en-US" sz="2199" spc="-43">
                <a:solidFill>
                  <a:srgbClr val="D5D5D5"/>
                </a:solidFill>
                <a:latin typeface="Poppins"/>
                <a:ea typeface="Poppins"/>
                <a:cs typeface="Poppins"/>
                <a:sym typeface="Poppins"/>
              </a:rPr>
              <a:t xml:space="preserve">  IQR = Q3 - Q1: 128.0</a:t>
            </a:r>
          </a:p>
          <a:p>
            <a:pPr algn="just">
              <a:lnSpc>
                <a:spcPts val="2199"/>
              </a:lnSpc>
            </a:pPr>
            <a:r>
              <a:rPr lang="en-US" sz="2199" spc="-43">
                <a:solidFill>
                  <a:srgbClr val="D5D5D5"/>
                </a:solidFill>
                <a:latin typeface="Poppins"/>
                <a:ea typeface="Poppins"/>
                <a:cs typeface="Poppins"/>
                <a:sym typeface="Poppins"/>
              </a:rPr>
              <a:t xml:space="preserve">  Cerca inferior [Q1 - 1.5·IQR]: -64.0</a:t>
            </a:r>
          </a:p>
          <a:p>
            <a:pPr algn="just">
              <a:lnSpc>
                <a:spcPts val="2199"/>
              </a:lnSpc>
            </a:pPr>
            <a:r>
              <a:rPr lang="en-US" sz="2199" spc="-43">
                <a:solidFill>
                  <a:srgbClr val="D5D5D5"/>
                </a:solidFill>
                <a:latin typeface="Poppins"/>
                <a:ea typeface="Poppins"/>
                <a:cs typeface="Poppins"/>
                <a:sym typeface="Poppins"/>
              </a:rPr>
              <a:t xml:space="preserve">  Cerca superior [Q3 + 1.5·IQR]: 448.0</a:t>
            </a:r>
          </a:p>
          <a:p>
            <a:pPr algn="just">
              <a:lnSpc>
                <a:spcPts val="2199"/>
              </a:lnSpc>
            </a:pPr>
            <a:r>
              <a:rPr lang="en-US" sz="2199" spc="-43">
                <a:solidFill>
                  <a:srgbClr val="D5D5D5"/>
                </a:solidFill>
                <a:latin typeface="Poppins"/>
                <a:ea typeface="Poppins"/>
                <a:cs typeface="Poppins"/>
                <a:sym typeface="Poppins"/>
              </a:rPr>
              <a:t xml:space="preserve">  Outliers detectados: 59 (11.5%)</a:t>
            </a:r>
          </a:p>
          <a:p>
            <a:pPr algn="just">
              <a:lnSpc>
                <a:spcPts val="2199"/>
              </a:lnSpc>
            </a:pPr>
          </a:p>
        </p:txBody>
      </p:sp>
      <p:sp>
        <p:nvSpPr>
          <p:cNvPr name="TextBox 8" id="8"/>
          <p:cNvSpPr txBox="true"/>
          <p:nvPr/>
        </p:nvSpPr>
        <p:spPr>
          <a:xfrm rot="0">
            <a:off x="1028700" y="6854507"/>
            <a:ext cx="6759978" cy="168465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Existe una gran variabilidad en la capacidad de almacenamiento. Aunque la mayoría usa 128 GB, hay un grupo importante con capacidades mucho mayores (como 512 GB o más), lo que genera valores atípicos y una distribución desigual.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695660" y="2729865"/>
            <a:ext cx="7699391" cy="6024773"/>
          </a:xfrm>
          <a:custGeom>
            <a:avLst/>
            <a:gdLst/>
            <a:ahLst/>
            <a:cxnLst/>
            <a:rect r="r" b="b" t="t" l="l"/>
            <a:pathLst>
              <a:path h="6024773" w="7699391">
                <a:moveTo>
                  <a:pt x="0" y="0"/>
                </a:moveTo>
                <a:lnTo>
                  <a:pt x="7699390" y="0"/>
                </a:lnTo>
                <a:lnTo>
                  <a:pt x="7699390" y="6024773"/>
                </a:lnTo>
                <a:lnTo>
                  <a:pt x="0" y="6024773"/>
                </a:lnTo>
                <a:lnTo>
                  <a:pt x="0" y="0"/>
                </a:lnTo>
                <a:close/>
              </a:path>
            </a:pathLst>
          </a:custGeom>
          <a:blipFill>
            <a:blip r:embed="rId2"/>
            <a:stretch>
              <a:fillRect l="0" t="0" r="0" b="0"/>
            </a:stretch>
          </a:blipFill>
        </p:spPr>
      </p:sp>
      <p:sp>
        <p:nvSpPr>
          <p:cNvPr name="TextBox 3" id="3"/>
          <p:cNvSpPr txBox="true"/>
          <p:nvPr/>
        </p:nvSpPr>
        <p:spPr>
          <a:xfrm rot="0">
            <a:off x="11863040" y="1304925"/>
            <a:ext cx="4735645" cy="31261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INTERCUARTILES</a:t>
            </a:r>
          </a:p>
          <a:p>
            <a:pPr algn="l">
              <a:lnSpc>
                <a:spcPts val="7680"/>
              </a:lnSpc>
            </a:pPr>
          </a:p>
        </p:txBody>
      </p:sp>
      <p:sp>
        <p:nvSpPr>
          <p:cNvPr name="TextBox 4" id="4"/>
          <p:cNvSpPr txBox="true"/>
          <p:nvPr/>
        </p:nvSpPr>
        <p:spPr>
          <a:xfrm rot="0">
            <a:off x="9765833" y="3354567"/>
            <a:ext cx="7493467"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Los cuartiles dividen la distribución en 4 partes iguales. El rango intercuartílico (IQR = Q3 - Q1) es una medida de dispersión robusta a outliers.</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14</a:t>
            </a:r>
          </a:p>
        </p:txBody>
      </p:sp>
      <p:sp>
        <p:nvSpPr>
          <p:cNvPr name="TextBox 6" id="6"/>
          <p:cNvSpPr txBox="true"/>
          <p:nvPr/>
        </p:nvSpPr>
        <p:spPr>
          <a:xfrm rot="0">
            <a:off x="10263230" y="5645964"/>
            <a:ext cx="5039846" cy="2237105"/>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Q1 (25%): 3.0</a:t>
            </a:r>
          </a:p>
          <a:p>
            <a:pPr algn="just">
              <a:lnSpc>
                <a:spcPts val="2199"/>
              </a:lnSpc>
            </a:pPr>
            <a:r>
              <a:rPr lang="en-US" sz="2199" spc="-43">
                <a:solidFill>
                  <a:srgbClr val="D5D5D5"/>
                </a:solidFill>
                <a:latin typeface="Poppins"/>
                <a:ea typeface="Poppins"/>
                <a:cs typeface="Poppins"/>
                <a:sym typeface="Poppins"/>
              </a:rPr>
              <a:t xml:space="preserve"> Q2 (50%, mediana): 4.0</a:t>
            </a:r>
          </a:p>
          <a:p>
            <a:pPr algn="just">
              <a:lnSpc>
                <a:spcPts val="2199"/>
              </a:lnSpc>
            </a:pPr>
            <a:r>
              <a:rPr lang="en-US" sz="2199" spc="-43">
                <a:solidFill>
                  <a:srgbClr val="D5D5D5"/>
                </a:solidFill>
                <a:latin typeface="Poppins"/>
                <a:ea typeface="Poppins"/>
                <a:cs typeface="Poppins"/>
                <a:sym typeface="Poppins"/>
              </a:rPr>
              <a:t xml:space="preserve"> Q3 (75%): 5.0</a:t>
            </a:r>
          </a:p>
          <a:p>
            <a:pPr algn="just">
              <a:lnSpc>
                <a:spcPts val="2199"/>
              </a:lnSpc>
            </a:pPr>
            <a:r>
              <a:rPr lang="en-US" sz="2199" spc="-43">
                <a:solidFill>
                  <a:srgbClr val="D5D5D5"/>
                </a:solidFill>
                <a:latin typeface="Poppins"/>
                <a:ea typeface="Poppins"/>
                <a:cs typeface="Poppins"/>
                <a:sym typeface="Poppins"/>
              </a:rPr>
              <a:t xml:space="preserve"> IQR = Q3 - Q1: 2.0</a:t>
            </a:r>
          </a:p>
          <a:p>
            <a:pPr algn="just">
              <a:lnSpc>
                <a:spcPts val="2199"/>
              </a:lnSpc>
            </a:pPr>
            <a:r>
              <a:rPr lang="en-US" sz="2199" spc="-43">
                <a:solidFill>
                  <a:srgbClr val="D5D5D5"/>
                </a:solidFill>
                <a:latin typeface="Poppins"/>
                <a:ea typeface="Poppins"/>
                <a:cs typeface="Poppins"/>
                <a:sym typeface="Poppins"/>
              </a:rPr>
              <a:t>Cerca inferior [Q1 - 1.5·IQR]: 0.0</a:t>
            </a:r>
          </a:p>
          <a:p>
            <a:pPr algn="just">
              <a:lnSpc>
                <a:spcPts val="2199"/>
              </a:lnSpc>
            </a:pPr>
            <a:r>
              <a:rPr lang="en-US" sz="2199" spc="-43">
                <a:solidFill>
                  <a:srgbClr val="D5D5D5"/>
                </a:solidFill>
                <a:latin typeface="Poppins"/>
                <a:ea typeface="Poppins"/>
                <a:cs typeface="Poppins"/>
                <a:sym typeface="Poppins"/>
              </a:rPr>
              <a:t xml:space="preserve"> Cerca superior [Q3 + 1.5·IQR]: 8.0</a:t>
            </a:r>
          </a:p>
          <a:p>
            <a:pPr algn="just">
              <a:lnSpc>
                <a:spcPts val="2199"/>
              </a:lnSpc>
            </a:pPr>
            <a:r>
              <a:rPr lang="en-US" sz="2199" spc="-43">
                <a:solidFill>
                  <a:srgbClr val="D5D5D5"/>
                </a:solidFill>
                <a:latin typeface="Poppins"/>
                <a:ea typeface="Poppins"/>
                <a:cs typeface="Poppins"/>
                <a:sym typeface="Poppins"/>
              </a:rPr>
              <a:t>Outliers detectados: 0 (0.0%)</a:t>
            </a:r>
          </a:p>
          <a:p>
            <a:pPr algn="just">
              <a:lnSpc>
                <a:spcPts val="2199"/>
              </a:lnSpc>
            </a:pPr>
          </a:p>
        </p:txBody>
      </p:sp>
      <p:sp>
        <p:nvSpPr>
          <p:cNvPr name="TextBox 7" id="7"/>
          <p:cNvSpPr txBox="true"/>
          <p:nvPr/>
        </p:nvSpPr>
        <p:spPr>
          <a:xfrm rot="0">
            <a:off x="10993552" y="4993958"/>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Semestre:</a:t>
            </a:r>
          </a:p>
        </p:txBody>
      </p:sp>
      <p:sp>
        <p:nvSpPr>
          <p:cNvPr name="TextBox 8" id="8"/>
          <p:cNvSpPr txBox="true"/>
          <p:nvPr/>
        </p:nvSpPr>
        <p:spPr>
          <a:xfrm rot="0">
            <a:off x="1272996" y="1435100"/>
            <a:ext cx="9414631" cy="8559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La distribución del semestre es estable y equilibrada, concentrándose en niveles intermedios de la carrera. No existen valores extremos, lo que sugiere una muestra académicamente consistente.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9855418" y="3114420"/>
            <a:ext cx="7403882" cy="6089693"/>
          </a:xfrm>
          <a:custGeom>
            <a:avLst/>
            <a:gdLst/>
            <a:ahLst/>
            <a:cxnLst/>
            <a:rect r="r" b="b" t="t" l="l"/>
            <a:pathLst>
              <a:path h="6089693" w="7403882">
                <a:moveTo>
                  <a:pt x="0" y="0"/>
                </a:moveTo>
                <a:lnTo>
                  <a:pt x="7403882" y="0"/>
                </a:lnTo>
                <a:lnTo>
                  <a:pt x="7403882" y="6089693"/>
                </a:lnTo>
                <a:lnTo>
                  <a:pt x="0" y="6089693"/>
                </a:lnTo>
                <a:lnTo>
                  <a:pt x="0" y="0"/>
                </a:lnTo>
                <a:close/>
              </a:path>
            </a:pathLst>
          </a:custGeom>
          <a:blipFill>
            <a:blip r:embed="rId2"/>
            <a:stretch>
              <a:fillRect l="0" t="0" r="0" b="0"/>
            </a:stretch>
          </a:blipFill>
        </p:spPr>
      </p:sp>
      <p:sp>
        <p:nvSpPr>
          <p:cNvPr name="TextBox 3" id="3"/>
          <p:cNvSpPr txBox="true"/>
          <p:nvPr/>
        </p:nvSpPr>
        <p:spPr>
          <a:xfrm rot="0">
            <a:off x="685416" y="3889810"/>
            <a:ext cx="9170001" cy="40976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GRÁFICAS PARA OBSERVACIONES UNIVARIADAS</a:t>
            </a:r>
          </a:p>
          <a:p>
            <a:pPr algn="l">
              <a:lnSpc>
                <a:spcPts val="7680"/>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15</a:t>
            </a:r>
          </a:p>
        </p:txBody>
      </p:sp>
      <p:sp>
        <p:nvSpPr>
          <p:cNvPr name="TextBox 5" id="5"/>
          <p:cNvSpPr txBox="true"/>
          <p:nvPr/>
        </p:nvSpPr>
        <p:spPr>
          <a:xfrm rot="0">
            <a:off x="1708082" y="6972492"/>
            <a:ext cx="4309525" cy="582929"/>
          </a:xfrm>
          <a:prstGeom prst="rect">
            <a:avLst/>
          </a:prstGeom>
        </p:spPr>
        <p:txBody>
          <a:bodyPr anchor="t" rtlCol="false" tIns="0" lIns="0" bIns="0" rIns="0">
            <a:spAutoFit/>
          </a:bodyPr>
          <a:lstStyle/>
          <a:p>
            <a:pPr algn="l">
              <a:lnSpc>
                <a:spcPts val="4199"/>
              </a:lnSpc>
            </a:pPr>
            <a:r>
              <a:rPr lang="en-US" b="true" sz="4199" spc="-83">
                <a:solidFill>
                  <a:srgbClr val="D5D5D5"/>
                </a:solidFill>
                <a:latin typeface="Poppins Bold"/>
                <a:ea typeface="Poppins Bold"/>
                <a:cs typeface="Poppins Bold"/>
                <a:sym typeface="Poppins Bold"/>
              </a:rPr>
              <a:t>Histograma</a:t>
            </a:r>
          </a:p>
        </p:txBody>
      </p:sp>
      <p:sp>
        <p:nvSpPr>
          <p:cNvPr name="TextBox 6" id="6"/>
          <p:cNvSpPr txBox="true"/>
          <p:nvPr/>
        </p:nvSpPr>
        <p:spPr>
          <a:xfrm rot="0">
            <a:off x="1308232" y="7779820"/>
            <a:ext cx="8238888" cy="1905000"/>
          </a:xfrm>
          <a:prstGeom prst="rect">
            <a:avLst/>
          </a:prstGeom>
        </p:spPr>
        <p:txBody>
          <a:bodyPr anchor="t" rtlCol="false" tIns="0" lIns="0" bIns="0" rIns="0">
            <a:spAutoFit/>
          </a:bodyPr>
          <a:lstStyle/>
          <a:p>
            <a:pPr algn="just">
              <a:lnSpc>
                <a:spcPts val="2400"/>
              </a:lnSpc>
            </a:pPr>
            <a:r>
              <a:rPr lang="en-US" sz="2400" spc="-48">
                <a:solidFill>
                  <a:srgbClr val="D5D5D5"/>
                </a:solidFill>
                <a:latin typeface="Poppins"/>
                <a:ea typeface="Poppins"/>
                <a:cs typeface="Poppins"/>
                <a:sym typeface="Poppins"/>
              </a:rPr>
              <a:t>A lo largo del curso vimos los Histogramas pero con 3 diferentes metodos:</a:t>
            </a:r>
          </a:p>
          <a:p>
            <a:pPr algn="just" marL="626107" indent="-313054" lvl="1">
              <a:lnSpc>
                <a:spcPts val="2899"/>
              </a:lnSpc>
              <a:buFont typeface="Arial"/>
              <a:buChar char="•"/>
            </a:pPr>
            <a:r>
              <a:rPr lang="en-US" sz="2899" spc="-57">
                <a:solidFill>
                  <a:srgbClr val="D5D5D5"/>
                </a:solidFill>
                <a:latin typeface="Poppins"/>
                <a:ea typeface="Poppins"/>
                <a:cs typeface="Poppins"/>
                <a:sym typeface="Poppins"/>
              </a:rPr>
              <a:t>Sturges: k = ⌈log₂(n) + 1⌉ buena para distribuciones simétricas</a:t>
            </a:r>
          </a:p>
          <a:p>
            <a:pPr algn="just">
              <a:lnSpc>
                <a:spcPts val="2100"/>
              </a:lnSpc>
            </a:pPr>
          </a:p>
          <a:p>
            <a:pPr algn="just">
              <a:lnSpc>
                <a:spcPts val="2100"/>
              </a:lnSpc>
            </a:pPr>
          </a:p>
        </p:txBody>
      </p:sp>
      <p:sp>
        <p:nvSpPr>
          <p:cNvPr name="TextBox 7" id="7"/>
          <p:cNvSpPr txBox="true"/>
          <p:nvPr/>
        </p:nvSpPr>
        <p:spPr>
          <a:xfrm rot="0">
            <a:off x="1308232" y="1304925"/>
            <a:ext cx="15579279"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Bold"/>
                <a:ea typeface="Poppins Bold"/>
                <a:cs typeface="Poppins Bold"/>
                <a:sym typeface="Poppins Bold"/>
              </a:rPr>
              <a:t>HERRAMIENTAS GRAFICAS UTILIZADAS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2131558" y="3503359"/>
            <a:ext cx="14024884" cy="6048231"/>
          </a:xfrm>
          <a:custGeom>
            <a:avLst/>
            <a:gdLst/>
            <a:ahLst/>
            <a:cxnLst/>
            <a:rect r="r" b="b" t="t" l="l"/>
            <a:pathLst>
              <a:path h="6048231" w="14024884">
                <a:moveTo>
                  <a:pt x="0" y="0"/>
                </a:moveTo>
                <a:lnTo>
                  <a:pt x="14024884" y="0"/>
                </a:lnTo>
                <a:lnTo>
                  <a:pt x="14024884" y="6048232"/>
                </a:lnTo>
                <a:lnTo>
                  <a:pt x="0" y="6048232"/>
                </a:lnTo>
                <a:lnTo>
                  <a:pt x="0" y="0"/>
                </a:lnTo>
                <a:close/>
              </a:path>
            </a:pathLst>
          </a:custGeom>
          <a:blipFill>
            <a:blip r:embed="rId2"/>
            <a:stretch>
              <a:fillRect l="0" t="0" r="0" b="0"/>
            </a:stretch>
          </a:blipFill>
        </p:spPr>
      </p:sp>
      <p:sp>
        <p:nvSpPr>
          <p:cNvPr name="TextBox 3" id="3"/>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16</a:t>
            </a:r>
          </a:p>
        </p:txBody>
      </p:sp>
      <p:sp>
        <p:nvSpPr>
          <p:cNvPr name="TextBox 4" id="4"/>
          <p:cNvSpPr txBox="true"/>
          <p:nvPr/>
        </p:nvSpPr>
        <p:spPr>
          <a:xfrm rot="0">
            <a:off x="1028700" y="854376"/>
            <a:ext cx="4309525" cy="582929"/>
          </a:xfrm>
          <a:prstGeom prst="rect">
            <a:avLst/>
          </a:prstGeom>
        </p:spPr>
        <p:txBody>
          <a:bodyPr anchor="t" rtlCol="false" tIns="0" lIns="0" bIns="0" rIns="0">
            <a:spAutoFit/>
          </a:bodyPr>
          <a:lstStyle/>
          <a:p>
            <a:pPr algn="l">
              <a:lnSpc>
                <a:spcPts val="4199"/>
              </a:lnSpc>
            </a:pPr>
            <a:r>
              <a:rPr lang="en-US" b="true" sz="4199" spc="-83">
                <a:solidFill>
                  <a:srgbClr val="D5D5D5"/>
                </a:solidFill>
                <a:latin typeface="Poppins Bold"/>
                <a:ea typeface="Poppins Bold"/>
                <a:cs typeface="Poppins Bold"/>
                <a:sym typeface="Poppins Bold"/>
              </a:rPr>
              <a:t>Histograma</a:t>
            </a:r>
          </a:p>
        </p:txBody>
      </p:sp>
      <p:sp>
        <p:nvSpPr>
          <p:cNvPr name="TextBox 5" id="5"/>
          <p:cNvSpPr txBox="true"/>
          <p:nvPr/>
        </p:nvSpPr>
        <p:spPr>
          <a:xfrm rot="0">
            <a:off x="1028700" y="1687484"/>
            <a:ext cx="8472713" cy="1943100"/>
          </a:xfrm>
          <a:prstGeom prst="rect">
            <a:avLst/>
          </a:prstGeom>
        </p:spPr>
        <p:txBody>
          <a:bodyPr anchor="t" rtlCol="false" tIns="0" lIns="0" bIns="0" rIns="0">
            <a:spAutoFit/>
          </a:bodyPr>
          <a:lstStyle/>
          <a:p>
            <a:pPr algn="just">
              <a:lnSpc>
                <a:spcPts val="2400"/>
              </a:lnSpc>
            </a:pPr>
            <a:r>
              <a:rPr lang="en-US" sz="2400" spc="-48">
                <a:solidFill>
                  <a:srgbClr val="D5D5D5"/>
                </a:solidFill>
                <a:latin typeface="Poppins"/>
                <a:ea typeface="Poppins"/>
                <a:cs typeface="Poppins"/>
                <a:sym typeface="Poppins"/>
              </a:rPr>
              <a:t>A lo largo del curso vimos los Histogramas pero con 3 diferentes metodos:</a:t>
            </a:r>
          </a:p>
          <a:p>
            <a:pPr algn="just">
              <a:lnSpc>
                <a:spcPts val="2400"/>
              </a:lnSpc>
            </a:pPr>
          </a:p>
          <a:p>
            <a:pPr algn="just" marL="626111" indent="-313055" lvl="1">
              <a:lnSpc>
                <a:spcPts val="2900"/>
              </a:lnSpc>
              <a:buFont typeface="Arial"/>
              <a:buChar char="•"/>
            </a:pPr>
            <a:r>
              <a:rPr lang="en-US" sz="2900" spc="-58">
                <a:solidFill>
                  <a:srgbClr val="D5D5D5"/>
                </a:solidFill>
                <a:latin typeface="Poppins"/>
                <a:ea typeface="Poppins"/>
                <a:cs typeface="Poppins"/>
                <a:sym typeface="Poppins"/>
              </a:rPr>
              <a:t>Freedman-Diaconis: h = 2·IQR·n^(-1/3) robusta a outliers</a:t>
            </a:r>
          </a:p>
          <a:p>
            <a:pPr algn="just">
              <a:lnSpc>
                <a:spcPts val="2100"/>
              </a:lnSpc>
            </a:pPr>
          </a:p>
        </p:txBody>
      </p:sp>
      <p:sp>
        <p:nvSpPr>
          <p:cNvPr name="TextBox 6" id="6"/>
          <p:cNvSpPr txBox="true"/>
          <p:nvPr/>
        </p:nvSpPr>
        <p:spPr>
          <a:xfrm rot="0">
            <a:off x="10894884" y="2137699"/>
            <a:ext cx="5946392" cy="1492885"/>
          </a:xfrm>
          <a:prstGeom prst="rect">
            <a:avLst/>
          </a:prstGeom>
        </p:spPr>
        <p:txBody>
          <a:bodyPr anchor="t" rtlCol="false" tIns="0" lIns="0" bIns="0" rIns="0">
            <a:spAutoFit/>
          </a:bodyPr>
          <a:lstStyle/>
          <a:p>
            <a:pPr algn="just">
              <a:lnSpc>
                <a:spcPts val="2900"/>
              </a:lnSpc>
            </a:pPr>
          </a:p>
          <a:p>
            <a:pPr algn="just" marL="626111" indent="-313055" lvl="1">
              <a:lnSpc>
                <a:spcPts val="2900"/>
              </a:lnSpc>
              <a:buFont typeface="Arial"/>
              <a:buChar char="•"/>
            </a:pPr>
            <a:r>
              <a:rPr lang="en-US" sz="2900" spc="-58">
                <a:solidFill>
                  <a:srgbClr val="D5D5D5"/>
                </a:solidFill>
                <a:latin typeface="Poppins"/>
                <a:ea typeface="Poppins"/>
                <a:cs typeface="Poppins"/>
                <a:sym typeface="Poppins"/>
              </a:rPr>
              <a:t>Scott: h = 3.49·s·n^(-1/3) óptima bajo normalidad</a:t>
            </a:r>
          </a:p>
          <a:p>
            <a:pPr algn="just">
              <a:lnSpc>
                <a:spcPts val="29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217612"/>
            <a:ext cx="7807524" cy="6002034"/>
          </a:xfrm>
          <a:custGeom>
            <a:avLst/>
            <a:gdLst/>
            <a:ahLst/>
            <a:cxnLst/>
            <a:rect r="r" b="b" t="t" l="l"/>
            <a:pathLst>
              <a:path h="6002034" w="7807524">
                <a:moveTo>
                  <a:pt x="0" y="0"/>
                </a:moveTo>
                <a:lnTo>
                  <a:pt x="7807524" y="0"/>
                </a:lnTo>
                <a:lnTo>
                  <a:pt x="7807524" y="6002035"/>
                </a:lnTo>
                <a:lnTo>
                  <a:pt x="0" y="6002035"/>
                </a:lnTo>
                <a:lnTo>
                  <a:pt x="0" y="0"/>
                </a:lnTo>
                <a:close/>
              </a:path>
            </a:pathLst>
          </a:custGeom>
          <a:blipFill>
            <a:blip r:embed="rId2"/>
            <a:stretch>
              <a:fillRect l="0" t="0" r="0" b="0"/>
            </a:stretch>
          </a:blipFill>
        </p:spPr>
      </p:sp>
      <p:sp>
        <p:nvSpPr>
          <p:cNvPr name="TextBox 3" id="3"/>
          <p:cNvSpPr txBox="true"/>
          <p:nvPr/>
        </p:nvSpPr>
        <p:spPr>
          <a:xfrm rot="0">
            <a:off x="9001330" y="1341437"/>
            <a:ext cx="8021696" cy="508635"/>
          </a:xfrm>
          <a:prstGeom prst="rect">
            <a:avLst/>
          </a:prstGeom>
        </p:spPr>
        <p:txBody>
          <a:bodyPr anchor="t" rtlCol="false" tIns="0" lIns="0" bIns="0" rIns="0">
            <a:spAutoFit/>
          </a:bodyPr>
          <a:lstStyle/>
          <a:p>
            <a:pPr algn="l">
              <a:lnSpc>
                <a:spcPts val="3360"/>
              </a:lnSpc>
            </a:pPr>
            <a:r>
              <a:rPr lang="en-US" b="true" sz="4200" spc="-436">
                <a:solidFill>
                  <a:srgbClr val="D5D5D5"/>
                </a:solidFill>
                <a:latin typeface="Poppins Bold"/>
                <a:ea typeface="Poppins Bold"/>
                <a:cs typeface="Poppins Bold"/>
                <a:sym typeface="Poppins Bold"/>
              </a:rPr>
              <a:t>BOXPLOT</a:t>
            </a:r>
          </a:p>
        </p:txBody>
      </p:sp>
      <p:sp>
        <p:nvSpPr>
          <p:cNvPr name="TextBox 4" id="4"/>
          <p:cNvSpPr txBox="true"/>
          <p:nvPr/>
        </p:nvSpPr>
        <p:spPr>
          <a:xfrm rot="0">
            <a:off x="9237604" y="2054294"/>
            <a:ext cx="8021696" cy="19608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El boxplot (gráfica de caja y bigote) muestra simultáneamente:</a:t>
            </a:r>
          </a:p>
          <a:p>
            <a:pPr algn="just" marL="474976" indent="-237488" lvl="1">
              <a:lnSpc>
                <a:spcPts val="2199"/>
              </a:lnSpc>
              <a:buFont typeface="Arial"/>
              <a:buChar char="•"/>
            </a:pPr>
            <a:r>
              <a:rPr lang="en-US" sz="2199" spc="-43">
                <a:solidFill>
                  <a:srgbClr val="D5D5D5"/>
                </a:solidFill>
                <a:latin typeface="Poppins"/>
                <a:ea typeface="Poppins"/>
                <a:cs typeface="Poppins"/>
                <a:sym typeface="Poppins"/>
              </a:rPr>
              <a:t>Caja: Q1 a Q3 (contiene el 50% central de los datos)</a:t>
            </a:r>
          </a:p>
          <a:p>
            <a:pPr algn="just" marL="474976" indent="-237488" lvl="1">
              <a:lnSpc>
                <a:spcPts val="2199"/>
              </a:lnSpc>
              <a:buFont typeface="Arial"/>
              <a:buChar char="•"/>
            </a:pPr>
            <a:r>
              <a:rPr lang="en-US" sz="2199" spc="-43">
                <a:solidFill>
                  <a:srgbClr val="D5D5D5"/>
                </a:solidFill>
                <a:latin typeface="Poppins"/>
                <a:ea typeface="Poppins"/>
                <a:cs typeface="Poppins"/>
                <a:sym typeface="Poppins"/>
              </a:rPr>
              <a:t>Línea central: mediana (Q2)</a:t>
            </a:r>
          </a:p>
          <a:p>
            <a:pPr algn="just" marL="474976" indent="-237488" lvl="1">
              <a:lnSpc>
                <a:spcPts val="2199"/>
              </a:lnSpc>
              <a:buFont typeface="Arial"/>
              <a:buChar char="•"/>
            </a:pPr>
            <a:r>
              <a:rPr lang="en-US" sz="2199" spc="-43">
                <a:solidFill>
                  <a:srgbClr val="D5D5D5"/>
                </a:solidFill>
                <a:latin typeface="Poppins"/>
                <a:ea typeface="Poppins"/>
                <a:cs typeface="Poppins"/>
                <a:sym typeface="Poppins"/>
              </a:rPr>
              <a:t>Bigotes: extienden hasta 1.5×IQR desde la caja</a:t>
            </a:r>
          </a:p>
          <a:p>
            <a:pPr algn="just" marL="474976" indent="-237488" lvl="1">
              <a:lnSpc>
                <a:spcPts val="2199"/>
              </a:lnSpc>
              <a:buFont typeface="Arial"/>
              <a:buChar char="•"/>
            </a:pPr>
            <a:r>
              <a:rPr lang="en-US" sz="2199" spc="-43">
                <a:solidFill>
                  <a:srgbClr val="D5D5D5"/>
                </a:solidFill>
                <a:latin typeface="Poppins"/>
                <a:ea typeface="Poppins"/>
                <a:cs typeface="Poppins"/>
                <a:sym typeface="Poppins"/>
              </a:rPr>
              <a:t>Puntos: outliers fuera de los bigotes</a:t>
            </a:r>
          </a:p>
          <a:p>
            <a:pPr algn="just">
              <a:lnSpc>
                <a:spcPts val="2199"/>
              </a:lnSpc>
            </a:pP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17</a:t>
            </a:r>
          </a:p>
        </p:txBody>
      </p:sp>
      <p:sp>
        <p:nvSpPr>
          <p:cNvPr name="TextBox 6" id="6"/>
          <p:cNvSpPr txBox="true"/>
          <p:nvPr/>
        </p:nvSpPr>
        <p:spPr>
          <a:xfrm rot="0">
            <a:off x="1174916" y="8330565"/>
            <a:ext cx="10584367" cy="9277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
        <p:nvSpPr>
          <p:cNvPr name="TextBox 7" id="7"/>
          <p:cNvSpPr txBox="true"/>
          <p:nvPr/>
        </p:nvSpPr>
        <p:spPr>
          <a:xfrm rot="0">
            <a:off x="10558118" y="5640070"/>
            <a:ext cx="6464907" cy="36182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Este análisis permite identificar relaciones entre variables numéricas y categóricas, facilitando la detección</a:t>
            </a:r>
            <a:r>
              <a:rPr lang="en-US" sz="2199" spc="-43">
                <a:solidFill>
                  <a:srgbClr val="D5D5D5"/>
                </a:solidFill>
                <a:latin typeface="Poppins"/>
                <a:ea typeface="Poppins"/>
                <a:cs typeface="Poppins"/>
                <a:sym typeface="Poppins"/>
              </a:rPr>
              <a:t xml:space="preserve"> de patrones y diferencias entre grupos. A través de boxplots cruzados, se analizan variables como la edad y la capacidad del dispositivo en función de categorías como marca y carrera. Asimismo, las distribuciones de variables categóricas permiten comprender la composición de la muestra y la frecuencia de cada categoría, lo que contribuye a identificar segmentos predominantes dentro de la población estudiada.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271787"/>
            <a:ext cx="7827571" cy="5997876"/>
          </a:xfrm>
          <a:custGeom>
            <a:avLst/>
            <a:gdLst/>
            <a:ahLst/>
            <a:cxnLst/>
            <a:rect r="r" b="b" t="t" l="l"/>
            <a:pathLst>
              <a:path h="5997876" w="7827571">
                <a:moveTo>
                  <a:pt x="0" y="0"/>
                </a:moveTo>
                <a:lnTo>
                  <a:pt x="7827571" y="0"/>
                </a:lnTo>
                <a:lnTo>
                  <a:pt x="7827571" y="5997876"/>
                </a:lnTo>
                <a:lnTo>
                  <a:pt x="0" y="5997876"/>
                </a:lnTo>
                <a:lnTo>
                  <a:pt x="0" y="0"/>
                </a:lnTo>
                <a:close/>
              </a:path>
            </a:pathLst>
          </a:custGeom>
          <a:blipFill>
            <a:blip r:embed="rId2"/>
            <a:stretch>
              <a:fillRect l="0" t="0" r="0" b="0"/>
            </a:stretch>
          </a:blipFill>
        </p:spPr>
      </p:sp>
      <p:sp>
        <p:nvSpPr>
          <p:cNvPr name="TextBox 3" id="3"/>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18</a:t>
            </a:r>
          </a:p>
        </p:txBody>
      </p:sp>
      <p:sp>
        <p:nvSpPr>
          <p:cNvPr name="TextBox 4" id="4"/>
          <p:cNvSpPr txBox="true"/>
          <p:nvPr/>
        </p:nvSpPr>
        <p:spPr>
          <a:xfrm rot="0">
            <a:off x="1028700" y="1152525"/>
            <a:ext cx="10584367" cy="9277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
        <p:nvSpPr>
          <p:cNvPr name="TextBox 5" id="5"/>
          <p:cNvSpPr txBox="true"/>
          <p:nvPr/>
        </p:nvSpPr>
        <p:spPr>
          <a:xfrm rot="0">
            <a:off x="9794003" y="2122244"/>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Edad por Marca de Telefono</a:t>
            </a:r>
          </a:p>
        </p:txBody>
      </p:sp>
      <p:sp>
        <p:nvSpPr>
          <p:cNvPr name="TextBox 6" id="6"/>
          <p:cNvSpPr txBox="true"/>
          <p:nvPr/>
        </p:nvSpPr>
        <p:spPr>
          <a:xfrm rot="0">
            <a:off x="9794003" y="4993958"/>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Capacidad por Carrera</a:t>
            </a:r>
          </a:p>
        </p:txBody>
      </p:sp>
      <p:sp>
        <p:nvSpPr>
          <p:cNvPr name="TextBox 7" id="7"/>
          <p:cNvSpPr txBox="true"/>
          <p:nvPr/>
        </p:nvSpPr>
        <p:spPr>
          <a:xfrm rot="0">
            <a:off x="9928228" y="2661603"/>
            <a:ext cx="6464907" cy="196088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Se observan diferencias en la edad según la marca del teléfono. Algunas marcas conc</a:t>
            </a:r>
            <a:r>
              <a:rPr lang="en-US" sz="2199" spc="-43">
                <a:solidFill>
                  <a:srgbClr val="D5D5D5"/>
                </a:solidFill>
                <a:latin typeface="Poppins"/>
                <a:ea typeface="Poppins"/>
                <a:cs typeface="Poppins"/>
                <a:sym typeface="Poppins"/>
              </a:rPr>
              <a:t>entran usuarios ligeramente mayores, mientras que otras presentan un perfil más joven. Sin embargo, la dispersión es moderada, lo que indica que la edad no varía drásticamente entre marcas.</a:t>
            </a:r>
          </a:p>
        </p:txBody>
      </p:sp>
      <p:sp>
        <p:nvSpPr>
          <p:cNvPr name="TextBox 8" id="8"/>
          <p:cNvSpPr txBox="true"/>
          <p:nvPr/>
        </p:nvSpPr>
        <p:spPr>
          <a:xfrm rot="0">
            <a:off x="9928228" y="5693092"/>
            <a:ext cx="6464907" cy="25133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La capacidad del dispositivo varía entre carreras. Algunas, como áreas más tecnológicas, ti</a:t>
            </a:r>
            <a:r>
              <a:rPr lang="en-US" sz="2199" spc="-43">
                <a:solidFill>
                  <a:srgbClr val="D5D5D5"/>
                </a:solidFill>
                <a:latin typeface="Poppins"/>
                <a:ea typeface="Poppins"/>
                <a:cs typeface="Poppins"/>
                <a:sym typeface="Poppins"/>
              </a:rPr>
              <a:t>enden a presentar dispositivos con mayor capacidad de almacenamiento, lo que podría estar relacionado con mayores necesidades de uso de software o archivos pesados. Además, se observan valores atípicos que indican la presencia de dispositivos de alta gama en ciertos grupos.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946061" y="1028700"/>
            <a:ext cx="14057292" cy="6800215"/>
          </a:xfrm>
          <a:custGeom>
            <a:avLst/>
            <a:gdLst/>
            <a:ahLst/>
            <a:cxnLst/>
            <a:rect r="r" b="b" t="t" l="l"/>
            <a:pathLst>
              <a:path h="6800215" w="14057292">
                <a:moveTo>
                  <a:pt x="0" y="0"/>
                </a:moveTo>
                <a:lnTo>
                  <a:pt x="14057292" y="0"/>
                </a:lnTo>
                <a:lnTo>
                  <a:pt x="14057292" y="6800215"/>
                </a:lnTo>
                <a:lnTo>
                  <a:pt x="0" y="6800215"/>
                </a:lnTo>
                <a:lnTo>
                  <a:pt x="0" y="0"/>
                </a:lnTo>
                <a:close/>
              </a:path>
            </a:pathLst>
          </a:custGeom>
          <a:blipFill>
            <a:blip r:embed="rId2"/>
            <a:stretch>
              <a:fillRect l="0" t="0" r="0" b="0"/>
            </a:stretch>
          </a:blipFill>
        </p:spPr>
      </p:sp>
      <p:sp>
        <p:nvSpPr>
          <p:cNvPr name="TextBox 3" id="3"/>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19</a:t>
            </a:r>
          </a:p>
        </p:txBody>
      </p:sp>
      <p:sp>
        <p:nvSpPr>
          <p:cNvPr name="TextBox 4" id="4"/>
          <p:cNvSpPr txBox="true"/>
          <p:nvPr/>
        </p:nvSpPr>
        <p:spPr>
          <a:xfrm rot="0">
            <a:off x="4427420" y="8330565"/>
            <a:ext cx="10584367" cy="9277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786536" y="2833248"/>
            <a:ext cx="6863339" cy="6219901"/>
          </a:xfrm>
          <a:custGeom>
            <a:avLst/>
            <a:gdLst/>
            <a:ahLst/>
            <a:cxnLst/>
            <a:rect r="r" b="b" t="t" l="l"/>
            <a:pathLst>
              <a:path h="6219901" w="6863339">
                <a:moveTo>
                  <a:pt x="0" y="0"/>
                </a:moveTo>
                <a:lnTo>
                  <a:pt x="6863339" y="0"/>
                </a:lnTo>
                <a:lnTo>
                  <a:pt x="6863339" y="6219901"/>
                </a:lnTo>
                <a:lnTo>
                  <a:pt x="0" y="6219901"/>
                </a:lnTo>
                <a:lnTo>
                  <a:pt x="0" y="0"/>
                </a:lnTo>
                <a:close/>
              </a:path>
            </a:pathLst>
          </a:custGeom>
          <a:blipFill>
            <a:blip r:embed="rId2"/>
            <a:stretch>
              <a:fillRect l="0" t="0" r="0" b="0"/>
            </a:stretch>
          </a:blipFill>
        </p:spPr>
      </p:sp>
      <p:sp>
        <p:nvSpPr>
          <p:cNvPr name="Freeform 3" id="3"/>
          <p:cNvSpPr/>
          <p:nvPr/>
        </p:nvSpPr>
        <p:spPr>
          <a:xfrm flipH="false" flipV="false" rot="0">
            <a:off x="9551364" y="2894492"/>
            <a:ext cx="7109561" cy="6158657"/>
          </a:xfrm>
          <a:custGeom>
            <a:avLst/>
            <a:gdLst/>
            <a:ahLst/>
            <a:cxnLst/>
            <a:rect r="r" b="b" t="t" l="l"/>
            <a:pathLst>
              <a:path h="6158657" w="7109561">
                <a:moveTo>
                  <a:pt x="0" y="0"/>
                </a:moveTo>
                <a:lnTo>
                  <a:pt x="7109561" y="0"/>
                </a:lnTo>
                <a:lnTo>
                  <a:pt x="7109561" y="6158657"/>
                </a:lnTo>
                <a:lnTo>
                  <a:pt x="0" y="6158657"/>
                </a:lnTo>
                <a:lnTo>
                  <a:pt x="0" y="0"/>
                </a:lnTo>
                <a:close/>
              </a:path>
            </a:pathLst>
          </a:custGeom>
          <a:blipFill>
            <a:blip r:embed="rId3"/>
            <a:stretch>
              <a:fillRect l="0" t="0" r="0" b="0"/>
            </a:stretch>
          </a:blipFill>
        </p:spPr>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20</a:t>
            </a:r>
          </a:p>
        </p:txBody>
      </p:sp>
      <p:sp>
        <p:nvSpPr>
          <p:cNvPr name="TextBox 5" id="5"/>
          <p:cNvSpPr txBox="true"/>
          <p:nvPr/>
        </p:nvSpPr>
        <p:spPr>
          <a:xfrm rot="0">
            <a:off x="7703633" y="1530350"/>
            <a:ext cx="10584367" cy="9277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904785" y="2598223"/>
            <a:ext cx="14478429" cy="6660077"/>
          </a:xfrm>
          <a:custGeom>
            <a:avLst/>
            <a:gdLst/>
            <a:ahLst/>
            <a:cxnLst/>
            <a:rect r="r" b="b" t="t" l="l"/>
            <a:pathLst>
              <a:path h="6660077" w="14478429">
                <a:moveTo>
                  <a:pt x="0" y="0"/>
                </a:moveTo>
                <a:lnTo>
                  <a:pt x="14478430" y="0"/>
                </a:lnTo>
                <a:lnTo>
                  <a:pt x="14478430" y="6660077"/>
                </a:lnTo>
                <a:lnTo>
                  <a:pt x="0" y="6660077"/>
                </a:lnTo>
                <a:lnTo>
                  <a:pt x="0" y="0"/>
                </a:lnTo>
                <a:close/>
              </a:path>
            </a:pathLst>
          </a:custGeom>
          <a:blipFill>
            <a:blip r:embed="rId2"/>
            <a:stretch>
              <a:fillRect l="0" t="0" r="0" b="0"/>
            </a:stretch>
          </a:blipFill>
        </p:spPr>
      </p:sp>
      <p:sp>
        <p:nvSpPr>
          <p:cNvPr name="TextBox 3" id="3"/>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21</a:t>
            </a:r>
          </a:p>
        </p:txBody>
      </p:sp>
      <p:sp>
        <p:nvSpPr>
          <p:cNvPr name="TextBox 4" id="4"/>
          <p:cNvSpPr txBox="true"/>
          <p:nvPr/>
        </p:nvSpPr>
        <p:spPr>
          <a:xfrm rot="0">
            <a:off x="1028700" y="1341437"/>
            <a:ext cx="10584367" cy="9277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6932250" y="1057275"/>
            <a:ext cx="327050"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22</a:t>
            </a:r>
          </a:p>
        </p:txBody>
      </p:sp>
      <p:sp>
        <p:nvSpPr>
          <p:cNvPr name="TextBox 3" id="3"/>
          <p:cNvSpPr txBox="true"/>
          <p:nvPr/>
        </p:nvSpPr>
        <p:spPr>
          <a:xfrm rot="0">
            <a:off x="1028700" y="7911465"/>
            <a:ext cx="5713474" cy="1346835"/>
          </a:xfrm>
          <a:prstGeom prst="rect">
            <a:avLst/>
          </a:prstGeom>
        </p:spPr>
        <p:txBody>
          <a:bodyPr anchor="t" rtlCol="false" tIns="0" lIns="0" bIns="0" rIns="0">
            <a:spAutoFit/>
          </a:bodyPr>
          <a:lstStyle/>
          <a:p>
            <a:pPr algn="l">
              <a:lnSpc>
                <a:spcPts val="3360"/>
              </a:lnSpc>
            </a:pPr>
            <a:r>
              <a:rPr lang="en-US" sz="4200" spc="-436" b="true">
                <a:solidFill>
                  <a:srgbClr val="D5D5D5"/>
                </a:solidFill>
                <a:latin typeface="Poppins Bold"/>
                <a:ea typeface="Poppins Bold"/>
                <a:cs typeface="Poppins Bold"/>
                <a:sym typeface="Poppins Bold"/>
              </a:rPr>
              <a:t xml:space="preserve">Analisis cruzado Y DIstribuciones de variables categóricas </a:t>
            </a:r>
          </a:p>
        </p:txBody>
      </p:sp>
      <p:sp>
        <p:nvSpPr>
          <p:cNvPr name="TextBox 4" id="4"/>
          <p:cNvSpPr txBox="true"/>
          <p:nvPr/>
        </p:nvSpPr>
        <p:spPr>
          <a:xfrm rot="0">
            <a:off x="9903053" y="5103155"/>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ESTADO DE TELEFONO</a:t>
            </a:r>
          </a:p>
        </p:txBody>
      </p:sp>
      <p:sp>
        <p:nvSpPr>
          <p:cNvPr name="TextBox 5" id="5"/>
          <p:cNvSpPr txBox="true"/>
          <p:nvPr/>
        </p:nvSpPr>
        <p:spPr>
          <a:xfrm rot="0">
            <a:off x="9903053" y="3417231"/>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PLAN/PREPAGO</a:t>
            </a:r>
          </a:p>
        </p:txBody>
      </p:sp>
      <p:sp>
        <p:nvSpPr>
          <p:cNvPr name="TextBox 6" id="6"/>
          <p:cNvSpPr txBox="true"/>
          <p:nvPr/>
        </p:nvSpPr>
        <p:spPr>
          <a:xfrm rot="0">
            <a:off x="9903053" y="1474132"/>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GRUPO DE EDAD</a:t>
            </a:r>
          </a:p>
        </p:txBody>
      </p:sp>
      <p:sp>
        <p:nvSpPr>
          <p:cNvPr name="TextBox 7" id="7"/>
          <p:cNvSpPr txBox="true"/>
          <p:nvPr/>
        </p:nvSpPr>
        <p:spPr>
          <a:xfrm rot="0">
            <a:off x="1730675" y="5877759"/>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PROCEDENCIA</a:t>
            </a:r>
          </a:p>
        </p:txBody>
      </p:sp>
      <p:sp>
        <p:nvSpPr>
          <p:cNvPr name="TextBox 8" id="8"/>
          <p:cNvSpPr txBox="true"/>
          <p:nvPr/>
        </p:nvSpPr>
        <p:spPr>
          <a:xfrm rot="0">
            <a:off x="1730675" y="3677485"/>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CARRERA</a:t>
            </a:r>
          </a:p>
        </p:txBody>
      </p:sp>
      <p:sp>
        <p:nvSpPr>
          <p:cNvPr name="TextBox 9" id="9"/>
          <p:cNvSpPr txBox="true"/>
          <p:nvPr/>
        </p:nvSpPr>
        <p:spPr>
          <a:xfrm rot="0">
            <a:off x="1730675" y="1474132"/>
            <a:ext cx="4309525" cy="327659"/>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MARCA</a:t>
            </a:r>
          </a:p>
        </p:txBody>
      </p:sp>
      <p:sp>
        <p:nvSpPr>
          <p:cNvPr name="TextBox 10" id="10"/>
          <p:cNvSpPr txBox="true"/>
          <p:nvPr/>
        </p:nvSpPr>
        <p:spPr>
          <a:xfrm rot="0">
            <a:off x="1967590" y="1954191"/>
            <a:ext cx="7428181" cy="131064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 xml:space="preserve">Se observa una alta concentración en pocas marcas, lo que indica que el mercado </a:t>
            </a:r>
            <a:r>
              <a:rPr lang="en-US" sz="2099" spc="-41">
                <a:solidFill>
                  <a:srgbClr val="D5D5D5"/>
                </a:solidFill>
                <a:latin typeface="Poppins"/>
                <a:ea typeface="Poppins"/>
                <a:cs typeface="Poppins"/>
                <a:sym typeface="Poppins"/>
              </a:rPr>
              <a:t>estudiantil está dominado por ciertas opciones. Las demás marcas tienen una participación menor, lo que sugiere una preferencia clara por marcas consolidadas.</a:t>
            </a:r>
          </a:p>
        </p:txBody>
      </p:sp>
      <p:sp>
        <p:nvSpPr>
          <p:cNvPr name="TextBox 11" id="11"/>
          <p:cNvSpPr txBox="true"/>
          <p:nvPr/>
        </p:nvSpPr>
        <p:spPr>
          <a:xfrm rot="0">
            <a:off x="1967590" y="4157545"/>
            <a:ext cx="7428181" cy="131064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La muestra no está completamente equilibrada, ya que algunas carreras conc</a:t>
            </a:r>
            <a:r>
              <a:rPr lang="en-US" sz="2099" spc="-41">
                <a:solidFill>
                  <a:srgbClr val="D5D5D5"/>
                </a:solidFill>
                <a:latin typeface="Poppins"/>
                <a:ea typeface="Poppins"/>
                <a:cs typeface="Poppins"/>
                <a:sym typeface="Poppins"/>
              </a:rPr>
              <a:t>entran mayor número de respuestas. Esto puede influir en los resultados, especialmente en variables tecnológicas, debido a las diferencias en necesidades académicas entre carreras.</a:t>
            </a:r>
          </a:p>
        </p:txBody>
      </p:sp>
      <p:sp>
        <p:nvSpPr>
          <p:cNvPr name="TextBox 12" id="12"/>
          <p:cNvSpPr txBox="true"/>
          <p:nvPr/>
        </p:nvSpPr>
        <p:spPr>
          <a:xfrm rot="0">
            <a:off x="1967590" y="6357819"/>
            <a:ext cx="7428181" cy="1053465"/>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Existe una concentración en ciertas zon</a:t>
            </a:r>
            <a:r>
              <a:rPr lang="en-US" sz="2099" spc="-41">
                <a:solidFill>
                  <a:srgbClr val="D5D5D5"/>
                </a:solidFill>
                <a:latin typeface="Poppins"/>
                <a:ea typeface="Poppins"/>
                <a:cs typeface="Poppins"/>
                <a:sym typeface="Poppins"/>
              </a:rPr>
              <a:t>as (CDMX o Edo. México), lo que indica que la muestra está geográficamente centralizada. Esto puede limitar la generalización de los resultados a otras regiones.</a:t>
            </a:r>
          </a:p>
        </p:txBody>
      </p:sp>
      <p:sp>
        <p:nvSpPr>
          <p:cNvPr name="TextBox 13" id="13"/>
          <p:cNvSpPr txBox="true"/>
          <p:nvPr/>
        </p:nvSpPr>
        <p:spPr>
          <a:xfrm rot="0">
            <a:off x="10104028" y="1954191"/>
            <a:ext cx="6464907" cy="131064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 xml:space="preserve">La mayoría de los estudiantes se encuentra en un rango de edad </a:t>
            </a:r>
            <a:r>
              <a:rPr lang="en-US" sz="2099" spc="-41">
                <a:solidFill>
                  <a:srgbClr val="D5D5D5"/>
                </a:solidFill>
                <a:latin typeface="Poppins"/>
                <a:ea typeface="Poppins"/>
                <a:cs typeface="Poppins"/>
                <a:sym typeface="Poppins"/>
              </a:rPr>
              <a:t>específico (principalmente entre 20 y 24 años), lo que confirma que la muestra es homogénea en edad y representativa del perfil típico universitario.</a:t>
            </a:r>
          </a:p>
        </p:txBody>
      </p:sp>
      <p:sp>
        <p:nvSpPr>
          <p:cNvPr name="TextBox 14" id="14"/>
          <p:cNvSpPr txBox="true"/>
          <p:nvPr/>
        </p:nvSpPr>
        <p:spPr>
          <a:xfrm rot="0">
            <a:off x="10104028" y="3897291"/>
            <a:ext cx="6464907" cy="1053465"/>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Se identifica una preferencia por uno de los tipos de plan (g</a:t>
            </a:r>
            <a:r>
              <a:rPr lang="en-US" sz="2099" spc="-41">
                <a:solidFill>
                  <a:srgbClr val="D5D5D5"/>
                </a:solidFill>
                <a:latin typeface="Poppins"/>
                <a:ea typeface="Poppins"/>
                <a:cs typeface="Poppins"/>
                <a:sym typeface="Poppins"/>
              </a:rPr>
              <a:t>eneralmente prepago en estudiantes), lo que puede estar relacionado con factores económicos, flexibilidad o control del gasto.</a:t>
            </a:r>
          </a:p>
        </p:txBody>
      </p:sp>
      <p:sp>
        <p:nvSpPr>
          <p:cNvPr name="TextBox 15" id="15"/>
          <p:cNvSpPr txBox="true"/>
          <p:nvPr/>
        </p:nvSpPr>
        <p:spPr>
          <a:xfrm rot="0">
            <a:off x="10104028" y="5583215"/>
            <a:ext cx="6464907" cy="1310640"/>
          </a:xfrm>
          <a:prstGeom prst="rect">
            <a:avLst/>
          </a:prstGeom>
        </p:spPr>
        <p:txBody>
          <a:bodyPr anchor="t" rtlCol="false" tIns="0" lIns="0" bIns="0" rIns="0">
            <a:spAutoFit/>
          </a:bodyPr>
          <a:lstStyle/>
          <a:p>
            <a:pPr algn="just">
              <a:lnSpc>
                <a:spcPts val="2099"/>
              </a:lnSpc>
            </a:pPr>
            <a:r>
              <a:rPr lang="en-US" sz="2099" spc="-41">
                <a:solidFill>
                  <a:srgbClr val="D5D5D5"/>
                </a:solidFill>
                <a:latin typeface="Poppins"/>
                <a:ea typeface="Poppins"/>
                <a:cs typeface="Poppins"/>
                <a:sym typeface="Poppins"/>
              </a:rPr>
              <a:t>La mayoría de los estudiantes utiliza teléfono</a:t>
            </a:r>
            <a:r>
              <a:rPr lang="en-US" sz="2099" spc="-41">
                <a:solidFill>
                  <a:srgbClr val="D5D5D5"/>
                </a:solidFill>
                <a:latin typeface="Poppins"/>
                <a:ea typeface="Poppins"/>
                <a:cs typeface="Poppins"/>
                <a:sym typeface="Poppins"/>
              </a:rPr>
              <a:t>s en cierto estado (comúnmente nuevos), lo que refleja hábitos de consumo tecnológico y posible capacidad de adquisición o renovación frecuente de dispositivos.</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160378" y="1380001"/>
            <a:ext cx="11722134"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MATRIZ DE DISPERSIÓN (SCATTER MATRIX)</a:t>
            </a:r>
          </a:p>
        </p:txBody>
      </p:sp>
      <p:sp>
        <p:nvSpPr>
          <p:cNvPr name="TextBox 3" id="3"/>
          <p:cNvSpPr txBox="true"/>
          <p:nvPr/>
        </p:nvSpPr>
        <p:spPr>
          <a:xfrm rot="0">
            <a:off x="1418917" y="3789883"/>
            <a:ext cx="16094125" cy="5918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La matriz de dispersión (scatter matrix) permite visualizar simultáneamente las relaciones entre todas las variables numéricas mediante proyecciones bidimensionales.</a:t>
            </a:r>
          </a:p>
        </p:txBody>
      </p:sp>
      <p:sp>
        <p:nvSpPr>
          <p:cNvPr name="TextBox 4" id="4"/>
          <p:cNvSpPr txBox="true"/>
          <p:nvPr/>
        </p:nvSpPr>
        <p:spPr>
          <a:xfrm rot="0">
            <a:off x="1418917" y="4629352"/>
            <a:ext cx="6080084" cy="349249"/>
          </a:xfrm>
          <a:prstGeom prst="rect">
            <a:avLst/>
          </a:prstGeom>
        </p:spPr>
        <p:txBody>
          <a:bodyPr anchor="t" rtlCol="false" tIns="0" lIns="0" bIns="0" rIns="0">
            <a:spAutoFit/>
          </a:bodyPr>
          <a:lstStyle/>
          <a:p>
            <a:pPr algn="l">
              <a:lnSpc>
                <a:spcPts val="2499"/>
              </a:lnSpc>
            </a:pPr>
            <a:r>
              <a:rPr lang="en-US" b="true" sz="2499" spc="-49">
                <a:solidFill>
                  <a:srgbClr val="D5D5D5"/>
                </a:solidFill>
                <a:latin typeface="Poppins Bold"/>
                <a:ea typeface="Poppins Bold"/>
                <a:cs typeface="Poppins Bold"/>
                <a:sym typeface="Poppins Bold"/>
              </a:rPr>
              <a:t>Interpretacion:</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23</a:t>
            </a:r>
          </a:p>
        </p:txBody>
      </p:sp>
      <p:sp>
        <p:nvSpPr>
          <p:cNvPr name="TextBox 6" id="6"/>
          <p:cNvSpPr txBox="true"/>
          <p:nvPr/>
        </p:nvSpPr>
        <p:spPr>
          <a:xfrm rot="0">
            <a:off x="8221343" y="6132195"/>
            <a:ext cx="9037957" cy="31261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GRÁFICAS PARA OBSERVACIONES MULTIVARIADAS</a:t>
            </a:r>
          </a:p>
        </p:txBody>
      </p:sp>
      <p:sp>
        <p:nvSpPr>
          <p:cNvPr name="TextBox 7" id="7"/>
          <p:cNvSpPr txBox="true"/>
          <p:nvPr/>
        </p:nvSpPr>
        <p:spPr>
          <a:xfrm rot="0">
            <a:off x="1418917" y="5235776"/>
            <a:ext cx="6080084" cy="31635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El análisis muestra que Edad y Semestre tienen distribuciones homogéneas, mientras que la Capacidad del dispositivo presenta alta variabilidad y sesgo. Además, existe una relación positiva leve entre edad y semestre, como es esperado, pero no hay relación significativa entre la capacidad del teléfono y las variables de edad o semestre, lo que indica que el nivel del dispositivo no depende de estos factores.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6582112" y="523517"/>
            <a:ext cx="9067202" cy="9021866"/>
          </a:xfrm>
          <a:custGeom>
            <a:avLst/>
            <a:gdLst/>
            <a:ahLst/>
            <a:cxnLst/>
            <a:rect r="r" b="b" t="t" l="l"/>
            <a:pathLst>
              <a:path h="9021866" w="9067202">
                <a:moveTo>
                  <a:pt x="0" y="0"/>
                </a:moveTo>
                <a:lnTo>
                  <a:pt x="9067202" y="0"/>
                </a:lnTo>
                <a:lnTo>
                  <a:pt x="9067202" y="9021866"/>
                </a:lnTo>
                <a:lnTo>
                  <a:pt x="0" y="9021866"/>
                </a:lnTo>
                <a:lnTo>
                  <a:pt x="0" y="0"/>
                </a:lnTo>
                <a:close/>
              </a:path>
            </a:pathLst>
          </a:custGeom>
          <a:blipFill>
            <a:blip r:embed="rId2"/>
            <a:stretch>
              <a:fillRect l="0" t="0" r="0" b="0"/>
            </a:stretch>
          </a:blipFill>
        </p:spPr>
      </p:sp>
      <p:sp>
        <p:nvSpPr>
          <p:cNvPr name="TextBox 3" id="3"/>
          <p:cNvSpPr txBox="true"/>
          <p:nvPr/>
        </p:nvSpPr>
        <p:spPr>
          <a:xfrm rot="0">
            <a:off x="1337675" y="3638550"/>
            <a:ext cx="5015569" cy="3219450"/>
          </a:xfrm>
          <a:prstGeom prst="rect">
            <a:avLst/>
          </a:prstGeom>
        </p:spPr>
        <p:txBody>
          <a:bodyPr anchor="t" rtlCol="false" tIns="0" lIns="0" bIns="0" rIns="0">
            <a:spAutoFit/>
          </a:bodyPr>
          <a:lstStyle/>
          <a:p>
            <a:pPr algn="l">
              <a:lnSpc>
                <a:spcPts val="6000"/>
              </a:lnSpc>
            </a:pPr>
            <a:r>
              <a:rPr lang="en-US" b="true" sz="7500" spc="-780">
                <a:solidFill>
                  <a:srgbClr val="D5D5D5"/>
                </a:solidFill>
                <a:latin typeface="Poppins Ultra-Bold"/>
                <a:ea typeface="Poppins Ultra-Bold"/>
                <a:cs typeface="Poppins Ultra-Bold"/>
                <a:sym typeface="Poppins Ultra-Bold"/>
              </a:rPr>
              <a:t>MATRIZ DE DISPERSIÓN (SCATTER MATRIX)</a:t>
            </a: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7750316" y="3048781"/>
            <a:ext cx="9098196" cy="6209519"/>
          </a:xfrm>
          <a:custGeom>
            <a:avLst/>
            <a:gdLst/>
            <a:ahLst/>
            <a:cxnLst/>
            <a:rect r="r" b="b" t="t" l="l"/>
            <a:pathLst>
              <a:path h="6209519" w="9098196">
                <a:moveTo>
                  <a:pt x="0" y="0"/>
                </a:moveTo>
                <a:lnTo>
                  <a:pt x="9098196" y="0"/>
                </a:lnTo>
                <a:lnTo>
                  <a:pt x="9098196" y="6209519"/>
                </a:lnTo>
                <a:lnTo>
                  <a:pt x="0" y="6209519"/>
                </a:lnTo>
                <a:lnTo>
                  <a:pt x="0" y="0"/>
                </a:lnTo>
                <a:close/>
              </a:path>
            </a:pathLst>
          </a:custGeom>
          <a:blipFill>
            <a:blip r:embed="rId2"/>
            <a:stretch>
              <a:fillRect l="0" t="0" r="0" b="0"/>
            </a:stretch>
          </a:blipFill>
        </p:spPr>
      </p:sp>
      <p:sp>
        <p:nvSpPr>
          <p:cNvPr name="TextBox 3" id="3"/>
          <p:cNvSpPr txBox="true"/>
          <p:nvPr/>
        </p:nvSpPr>
        <p:spPr>
          <a:xfrm rot="0">
            <a:off x="1160378" y="1865776"/>
            <a:ext cx="11722134" cy="11830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ESPACIO DE ESTADOS</a:t>
            </a:r>
          </a:p>
        </p:txBody>
      </p:sp>
      <p:sp>
        <p:nvSpPr>
          <p:cNvPr name="TextBox 4" id="4"/>
          <p:cNvSpPr txBox="true"/>
          <p:nvPr/>
        </p:nvSpPr>
        <p:spPr>
          <a:xfrm rot="0">
            <a:off x="1418917" y="3086881"/>
            <a:ext cx="6331399" cy="14490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El espacio de estados permite representar cada observación como un punto en un espacio multidimensional. Usamos color y tamaño para proyectar dimensiones adicionales.</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25</a:t>
            </a:r>
          </a:p>
        </p:txBody>
      </p:sp>
      <p:sp>
        <p:nvSpPr>
          <p:cNvPr name="TextBox 6" id="6"/>
          <p:cNvSpPr txBox="true"/>
          <p:nvPr/>
        </p:nvSpPr>
        <p:spPr>
          <a:xfrm rot="0">
            <a:off x="1160378" y="5181600"/>
            <a:ext cx="6331399" cy="373506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El análisis del espacio de estados entre edad y capacidad del dispositivo, segmentado por género, muestra una alta dispersión de los datos, lo que indica la ausencia de una relación clara entre estas variables. Asimismo, no se observan diferencias significativas entre hombres y mujeres, ya que ambos grupos presentan comportamientos similares en cuanto a la capacidad de sus dispositivos. Esto sugiere que el nivel tecnológico del teléfono no está determinado ni por la edad ni por el género dentro de la muestra analizada.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316249" y="1561505"/>
            <a:ext cx="8187995" cy="5926061"/>
          </a:xfrm>
          <a:custGeom>
            <a:avLst/>
            <a:gdLst/>
            <a:ahLst/>
            <a:cxnLst/>
            <a:rect r="r" b="b" t="t" l="l"/>
            <a:pathLst>
              <a:path h="5926061" w="8187995">
                <a:moveTo>
                  <a:pt x="0" y="0"/>
                </a:moveTo>
                <a:lnTo>
                  <a:pt x="8187995" y="0"/>
                </a:lnTo>
                <a:lnTo>
                  <a:pt x="8187995" y="5926061"/>
                </a:lnTo>
                <a:lnTo>
                  <a:pt x="0" y="5926061"/>
                </a:lnTo>
                <a:lnTo>
                  <a:pt x="0" y="0"/>
                </a:lnTo>
                <a:close/>
              </a:path>
            </a:pathLst>
          </a:custGeom>
          <a:blipFill>
            <a:blip r:embed="rId2"/>
            <a:stretch>
              <a:fillRect l="0" t="0" r="0" b="0"/>
            </a:stretch>
          </a:blipFill>
        </p:spPr>
      </p:sp>
      <p:sp>
        <p:nvSpPr>
          <p:cNvPr name="TextBox 3" id="3"/>
          <p:cNvSpPr txBox="true"/>
          <p:nvPr/>
        </p:nvSpPr>
        <p:spPr>
          <a:xfrm rot="0">
            <a:off x="10381929" y="1304925"/>
            <a:ext cx="8707178"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ESPACIO DE ESTADOS</a:t>
            </a: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26</a:t>
            </a:r>
          </a:p>
        </p:txBody>
      </p:sp>
      <p:sp>
        <p:nvSpPr>
          <p:cNvPr name="TextBox 5" id="5"/>
          <p:cNvSpPr txBox="true"/>
          <p:nvPr/>
        </p:nvSpPr>
        <p:spPr>
          <a:xfrm rot="0">
            <a:off x="10045514" y="4562635"/>
            <a:ext cx="6331399" cy="34493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La proyección tridimensional permite observar la relación entre edad, capacidad del dispositivo y semestre. Se identifica una relación positiva entre la edad y el semestre, consistente con el avance académico esperado. Sin embargo, la capacidad del dispositivo no muestra una relación clara ni con la edad ni con el semestre, ya que los valores se encuentran dispersos en toda la gráfica. Esto indica que el nivel tecnológico del dispositivo es independiente de estas variables dentro de la muestra analizada.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467287" y="3927703"/>
            <a:ext cx="5119144" cy="1215797"/>
          </a:xfrm>
          <a:custGeom>
            <a:avLst/>
            <a:gdLst/>
            <a:ahLst/>
            <a:cxnLst/>
            <a:rect r="r" b="b" t="t" l="l"/>
            <a:pathLst>
              <a:path h="1215797" w="5119144">
                <a:moveTo>
                  <a:pt x="0" y="0"/>
                </a:moveTo>
                <a:lnTo>
                  <a:pt x="5119144" y="0"/>
                </a:lnTo>
                <a:lnTo>
                  <a:pt x="5119144" y="1215797"/>
                </a:lnTo>
                <a:lnTo>
                  <a:pt x="0" y="1215797"/>
                </a:lnTo>
                <a:lnTo>
                  <a:pt x="0" y="0"/>
                </a:lnTo>
                <a:close/>
              </a:path>
            </a:pathLst>
          </a:custGeom>
          <a:blipFill>
            <a:blip r:embed="rId2"/>
            <a:stretch>
              <a:fillRect l="0" t="0" r="0" b="0"/>
            </a:stretch>
          </a:blipFill>
          <a:ln cap="sq">
            <a:noFill/>
            <a:prstDash val="solid"/>
            <a:miter/>
          </a:ln>
        </p:spPr>
      </p:sp>
      <p:sp>
        <p:nvSpPr>
          <p:cNvPr name="TextBox 3" id="3"/>
          <p:cNvSpPr txBox="true"/>
          <p:nvPr/>
        </p:nvSpPr>
        <p:spPr>
          <a:xfrm rot="0">
            <a:off x="2195422" y="879050"/>
            <a:ext cx="15792013" cy="31261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COVARIANZA Y MATRIZ DE COVARIANZA MUESTRAL</a:t>
            </a:r>
          </a:p>
          <a:p>
            <a:pPr algn="l">
              <a:lnSpc>
                <a:spcPts val="7680"/>
              </a:lnSpc>
            </a:pPr>
          </a:p>
        </p:txBody>
      </p:sp>
      <p:sp>
        <p:nvSpPr>
          <p:cNvPr name="TextBox 4" id="4"/>
          <p:cNvSpPr txBox="true"/>
          <p:nvPr/>
        </p:nvSpPr>
        <p:spPr>
          <a:xfrm rot="0">
            <a:off x="1174639" y="3191072"/>
            <a:ext cx="6053529" cy="579755"/>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La covarianza muestral entre X e Y se define como:</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27</a:t>
            </a:r>
          </a:p>
        </p:txBody>
      </p:sp>
      <p:sp>
        <p:nvSpPr>
          <p:cNvPr name="TextBox 6" id="6"/>
          <p:cNvSpPr txBox="true"/>
          <p:nvPr/>
        </p:nvSpPr>
        <p:spPr>
          <a:xfrm rot="0">
            <a:off x="7228168" y="4024205"/>
            <a:ext cx="4388909" cy="1457960"/>
          </a:xfrm>
          <a:prstGeom prst="rect">
            <a:avLst/>
          </a:prstGeom>
        </p:spPr>
        <p:txBody>
          <a:bodyPr anchor="t" rtlCol="false" tIns="0" lIns="0" bIns="0" rIns="0">
            <a:spAutoFit/>
          </a:bodyPr>
          <a:lstStyle/>
          <a:p>
            <a:pPr algn="l" marL="410208" indent="-205104" lvl="1">
              <a:lnSpc>
                <a:spcPts val="1899"/>
              </a:lnSpc>
              <a:buFont typeface="Arial"/>
              <a:buChar char="•"/>
            </a:pPr>
            <a:r>
              <a:rPr lang="en-US" sz="1899" spc="-37">
                <a:solidFill>
                  <a:srgbClr val="D5D5D5"/>
                </a:solidFill>
                <a:latin typeface="Poppins"/>
                <a:ea typeface="Poppins"/>
                <a:cs typeface="Poppins"/>
                <a:sym typeface="Poppins"/>
              </a:rPr>
              <a:t>Cov &gt; 0: variables tienden a moverse en la misma dirección</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Cov &lt;</a:t>
            </a:r>
            <a:r>
              <a:rPr lang="en-US" sz="1899" spc="-37">
                <a:solidFill>
                  <a:srgbClr val="D5D5D5"/>
                </a:solidFill>
                <a:latin typeface="Poppins"/>
                <a:ea typeface="Poppins"/>
                <a:cs typeface="Poppins"/>
                <a:sym typeface="Poppins"/>
              </a:rPr>
              <a:t xml:space="preserve"> 0: variables tienden a moverse en dirección opuesta</a:t>
            </a:r>
          </a:p>
          <a:p>
            <a:pPr algn="l" marL="410208" indent="-205104" lvl="1">
              <a:lnSpc>
                <a:spcPts val="1899"/>
              </a:lnSpc>
              <a:buFont typeface="Arial"/>
              <a:buChar char="•"/>
            </a:pPr>
            <a:r>
              <a:rPr lang="en-US" sz="1899" spc="-37">
                <a:solidFill>
                  <a:srgbClr val="D5D5D5"/>
                </a:solidFill>
                <a:latin typeface="Poppins"/>
                <a:ea typeface="Poppins"/>
                <a:cs typeface="Poppins"/>
                <a:sym typeface="Poppins"/>
              </a:rPr>
              <a:t>Cov ≈ 0: no hay relación lineal</a:t>
            </a:r>
          </a:p>
          <a:p>
            <a:pPr algn="l">
              <a:lnSpc>
                <a:spcPts val="1899"/>
              </a:lnSpc>
            </a:pPr>
          </a:p>
        </p:txBody>
      </p:sp>
      <p:graphicFrame>
        <p:nvGraphicFramePr>
          <p:cNvPr name="Table 7" id="7"/>
          <p:cNvGraphicFramePr>
            <a:graphicFrameLocks noGrp="true"/>
          </p:cNvGraphicFramePr>
          <p:nvPr/>
        </p:nvGraphicFramePr>
        <p:xfrm>
          <a:off x="1028700" y="6051287"/>
          <a:ext cx="16230600" cy="3005667"/>
        </p:xfrm>
        <a:graphic>
          <a:graphicData uri="http://schemas.openxmlformats.org/drawingml/2006/table">
            <a:tbl>
              <a:tblPr/>
              <a:tblGrid>
                <a:gridCol w="3246120"/>
                <a:gridCol w="3246120"/>
                <a:gridCol w="3246120"/>
                <a:gridCol w="3246120"/>
                <a:gridCol w="3246120"/>
              </a:tblGrid>
              <a:tr h="601133">
                <a:tc>
                  <a:txBody>
                    <a:bodyPr anchor="t" rtlCol="false"/>
                    <a:lstStyle/>
                    <a:p>
                      <a:pPr algn="r">
                        <a:lnSpc>
                          <a:spcPts val="2008"/>
                        </a:lnSpc>
                        <a:defRPr/>
                      </a:pP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Edad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Capacidad (GB)</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Semestre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b="true">
                          <a:solidFill>
                            <a:srgbClr val="D9D9D9"/>
                          </a:solidFill>
                          <a:latin typeface="Open Sans Bold"/>
                          <a:ea typeface="Open Sans Bold"/>
                          <a:cs typeface="Open Sans Bold"/>
                          <a:sym typeface="Open Sans Bold"/>
                        </a:rPr>
                        <a:t>Tiempo c/tel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133">
                <a:tc>
                  <a:txBody>
                    <a:bodyPr anchor="t" rtlCol="false"/>
                    <a:lstStyle/>
                    <a:p>
                      <a:pPr algn="r" marL="0" indent="0" lvl="0">
                        <a:lnSpc>
                          <a:spcPts val="2008"/>
                        </a:lnSpc>
                        <a:spcBef>
                          <a:spcPct val="0"/>
                        </a:spcBef>
                        <a:defRPr/>
                      </a:pPr>
                      <a:r>
                        <a:rPr lang="en-US" b="true" sz="1434" strike="noStrike" u="none">
                          <a:solidFill>
                            <a:srgbClr val="FFFFFF"/>
                          </a:solidFill>
                          <a:latin typeface="Open Sans Bold"/>
                          <a:ea typeface="Open Sans Bold"/>
                          <a:cs typeface="Open Sans Bold"/>
                          <a:sym typeface="Open Sans Bold"/>
                        </a:rPr>
                        <a:t>Edad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2.97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 xml:space="preserve">0.29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a:t>
                      </a:r>
                      <a:r>
                        <a:rPr lang="en-US" sz="1434">
                          <a:solidFill>
                            <a:srgbClr val="FFFFFF"/>
                          </a:solidFill>
                          <a:latin typeface="Open Sans"/>
                          <a:ea typeface="Open Sans"/>
                          <a:cs typeface="Open Sans"/>
                          <a:sym typeface="Open Sans"/>
                        </a:rPr>
                        <a:t xml:space="preserve">.92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0</a:t>
                      </a:r>
                      <a:r>
                        <a:rPr lang="en-US" sz="1434">
                          <a:solidFill>
                            <a:srgbClr val="FFFFFF"/>
                          </a:solidFill>
                          <a:latin typeface="Open Sans"/>
                          <a:ea typeface="Open Sans"/>
                          <a:cs typeface="Open Sans"/>
                          <a:sym typeface="Open Sans"/>
                        </a:rPr>
                        <a:t>.03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133">
                <a:tc>
                  <a:txBody>
                    <a:bodyPr anchor="t" rtlCol="false"/>
                    <a:lstStyle/>
                    <a:p>
                      <a:pPr algn="r">
                        <a:lnSpc>
                          <a:spcPts val="2008"/>
                        </a:lnSpc>
                        <a:defRPr/>
                      </a:pPr>
                      <a:r>
                        <a:rPr lang="en-US" b="true" sz="1434">
                          <a:solidFill>
                            <a:srgbClr val="FFFFFF"/>
                          </a:solidFill>
                          <a:latin typeface="Open Sans Bold"/>
                          <a:ea typeface="Open Sans Bold"/>
                          <a:cs typeface="Open Sans Bold"/>
                          <a:sym typeface="Open Sans Bold"/>
                        </a:rPr>
                        <a:t>Capacidad (GB)</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0.29</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31433</a:t>
                      </a:r>
                      <a:r>
                        <a:rPr lang="en-US" sz="1434">
                          <a:solidFill>
                            <a:srgbClr val="FFFFFF"/>
                          </a:solidFill>
                          <a:latin typeface="Open Sans"/>
                          <a:ea typeface="Open Sans"/>
                          <a:cs typeface="Open Sans"/>
                          <a:sym typeface="Open Sans"/>
                        </a:rPr>
                        <a:t xml:space="preserve">.79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6</a:t>
                      </a:r>
                      <a:r>
                        <a:rPr lang="en-US" sz="1434">
                          <a:solidFill>
                            <a:srgbClr val="FFFFFF"/>
                          </a:solidFill>
                          <a:latin typeface="Open Sans"/>
                          <a:ea typeface="Open Sans"/>
                          <a:cs typeface="Open Sans"/>
                          <a:sym typeface="Open Sans"/>
                        </a:rPr>
                        <a:t xml:space="preserve">.36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-5</a:t>
                      </a:r>
                      <a:r>
                        <a:rPr lang="en-US" sz="1434">
                          <a:solidFill>
                            <a:srgbClr val="FFFFFF"/>
                          </a:solidFill>
                          <a:latin typeface="Open Sans"/>
                          <a:ea typeface="Open Sans"/>
                          <a:cs typeface="Open Sans"/>
                          <a:sym typeface="Open Sans"/>
                        </a:rPr>
                        <a:t>3.04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133">
                <a:tc>
                  <a:txBody>
                    <a:bodyPr anchor="t" rtlCol="false"/>
                    <a:lstStyle/>
                    <a:p>
                      <a:pPr algn="r">
                        <a:lnSpc>
                          <a:spcPts val="2008"/>
                        </a:lnSpc>
                        <a:defRPr/>
                      </a:pPr>
                      <a:r>
                        <a:rPr lang="en-US" b="true" sz="1434">
                          <a:solidFill>
                            <a:srgbClr val="FFFFFF"/>
                          </a:solidFill>
                          <a:latin typeface="Open Sans Bold"/>
                          <a:ea typeface="Open Sans Bold"/>
                          <a:cs typeface="Open Sans Bold"/>
                          <a:sym typeface="Open Sans Bold"/>
                        </a:rPr>
                        <a:t>Semestre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1.92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6</a:t>
                      </a:r>
                      <a:r>
                        <a:rPr lang="en-US" sz="1434">
                          <a:solidFill>
                            <a:srgbClr val="FFFFFF"/>
                          </a:solidFill>
                          <a:latin typeface="Open Sans"/>
                          <a:ea typeface="Open Sans"/>
                          <a:cs typeface="Open Sans"/>
                          <a:sym typeface="Open Sans"/>
                        </a:rPr>
                        <a:t xml:space="preserve">.36 </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3.47</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0.21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r h="601133">
                <a:tc>
                  <a:txBody>
                    <a:bodyPr anchor="t" rtlCol="false"/>
                    <a:lstStyle/>
                    <a:p>
                      <a:pPr algn="r">
                        <a:lnSpc>
                          <a:spcPts val="2008"/>
                        </a:lnSpc>
                        <a:defRPr/>
                      </a:pPr>
                      <a:r>
                        <a:rPr lang="en-US" sz="1434" b="true">
                          <a:solidFill>
                            <a:srgbClr val="FFFFFF"/>
                          </a:solidFill>
                          <a:latin typeface="Open Sans Bold"/>
                          <a:ea typeface="Open Sans Bold"/>
                          <a:cs typeface="Open Sans Bold"/>
                          <a:sym typeface="Open Sans Bold"/>
                        </a:rPr>
                        <a:t>Tiempo c/tel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0.03</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-53.04</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0.21</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c>
                  <a:txBody>
                    <a:bodyPr anchor="t" rtlCol="false"/>
                    <a:lstStyle/>
                    <a:p>
                      <a:pPr algn="r">
                        <a:lnSpc>
                          <a:spcPts val="2008"/>
                        </a:lnSpc>
                        <a:defRPr/>
                      </a:pPr>
                      <a:r>
                        <a:rPr lang="en-US" sz="1434">
                          <a:solidFill>
                            <a:srgbClr val="FFFFFF"/>
                          </a:solidFill>
                          <a:latin typeface="Open Sans"/>
                          <a:ea typeface="Open Sans"/>
                          <a:cs typeface="Open Sans"/>
                          <a:sym typeface="Open Sans"/>
                        </a:rPr>
                        <a:t>1.62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050505"/>
                    </a:solidFill>
                  </a:tcPr>
                </a:tc>
              </a:tr>
            </a:tbl>
          </a:graphicData>
        </a:graphic>
      </p:graphicFrame>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061068"/>
            <a:ext cx="14808036" cy="5997255"/>
          </a:xfrm>
          <a:custGeom>
            <a:avLst/>
            <a:gdLst/>
            <a:ahLst/>
            <a:cxnLst/>
            <a:rect r="r" b="b" t="t" l="l"/>
            <a:pathLst>
              <a:path h="5997255" w="14808036">
                <a:moveTo>
                  <a:pt x="0" y="0"/>
                </a:moveTo>
                <a:lnTo>
                  <a:pt x="14808036" y="0"/>
                </a:lnTo>
                <a:lnTo>
                  <a:pt x="14808036" y="5997255"/>
                </a:lnTo>
                <a:lnTo>
                  <a:pt x="0" y="5997255"/>
                </a:lnTo>
                <a:lnTo>
                  <a:pt x="0" y="0"/>
                </a:lnTo>
                <a:close/>
              </a:path>
            </a:pathLst>
          </a:custGeom>
          <a:blipFill>
            <a:blip r:embed="rId2"/>
            <a:stretch>
              <a:fillRect l="0" t="0" r="0" b="0"/>
            </a:stretch>
          </a:blipFill>
        </p:spPr>
      </p:sp>
      <p:sp>
        <p:nvSpPr>
          <p:cNvPr name="TextBox 3" id="3"/>
          <p:cNvSpPr txBox="true"/>
          <p:nvPr/>
        </p:nvSpPr>
        <p:spPr>
          <a:xfrm rot="0">
            <a:off x="1028700" y="1238250"/>
            <a:ext cx="16230600" cy="2497900"/>
          </a:xfrm>
          <a:prstGeom prst="rect">
            <a:avLst/>
          </a:prstGeom>
        </p:spPr>
        <p:txBody>
          <a:bodyPr anchor="t" rtlCol="false" tIns="0" lIns="0" bIns="0" rIns="0">
            <a:spAutoFit/>
          </a:bodyPr>
          <a:lstStyle/>
          <a:p>
            <a:pPr algn="l">
              <a:lnSpc>
                <a:spcPts val="6137"/>
              </a:lnSpc>
            </a:pPr>
            <a:r>
              <a:rPr lang="en-US" b="true" sz="7672" spc="-797">
                <a:solidFill>
                  <a:srgbClr val="D5D5D5"/>
                </a:solidFill>
                <a:latin typeface="Poppins Ultra-Bold"/>
                <a:ea typeface="Poppins Ultra-Bold"/>
                <a:cs typeface="Poppins Ultra-Bold"/>
                <a:sym typeface="Poppins Ultra-Bold"/>
              </a:rPr>
              <a:t>COVARIANZA Y MATRIZ DE COVARIANZA MUESTRAL</a:t>
            </a:r>
          </a:p>
          <a:p>
            <a:pPr algn="l">
              <a:lnSpc>
                <a:spcPts val="6137"/>
              </a:lnSpc>
            </a:pPr>
          </a:p>
        </p:txBody>
      </p:sp>
      <p:sp>
        <p:nvSpPr>
          <p:cNvPr name="TextBox 4" id="4"/>
          <p:cNvSpPr txBox="true"/>
          <p:nvPr/>
        </p:nvSpPr>
        <p:spPr>
          <a:xfrm rot="0">
            <a:off x="12162283" y="1047750"/>
            <a:ext cx="4923078" cy="2260600"/>
          </a:xfrm>
          <a:prstGeom prst="rect">
            <a:avLst/>
          </a:prstGeom>
        </p:spPr>
        <p:txBody>
          <a:bodyPr anchor="t" rtlCol="false" tIns="0" lIns="0" bIns="0" rIns="0">
            <a:spAutoFit/>
          </a:bodyPr>
          <a:lstStyle/>
          <a:p>
            <a:pPr algn="l">
              <a:lnSpc>
                <a:spcPts val="1999"/>
              </a:lnSpc>
            </a:pPr>
            <a:r>
              <a:rPr lang="en-US" sz="1999" spc="-39">
                <a:solidFill>
                  <a:srgbClr val="D5D5D5"/>
                </a:solidFill>
                <a:latin typeface="Poppins"/>
                <a:ea typeface="Poppins"/>
                <a:cs typeface="Poppins"/>
                <a:sym typeface="Poppins"/>
              </a:rPr>
              <a:t>La matriz de covarianza Σ tiene las siguientes propiedades:</a:t>
            </a:r>
          </a:p>
          <a:p>
            <a:pPr algn="l" marL="431799" indent="-215899" lvl="1">
              <a:lnSpc>
                <a:spcPts val="1999"/>
              </a:lnSpc>
              <a:buAutoNum type="arabicPeriod" startAt="1"/>
            </a:pPr>
            <a:r>
              <a:rPr lang="en-US" sz="1999" spc="-39">
                <a:solidFill>
                  <a:srgbClr val="D5D5D5"/>
                </a:solidFill>
                <a:latin typeface="Poppins"/>
                <a:ea typeface="Poppins"/>
                <a:cs typeface="Poppins"/>
                <a:sym typeface="Poppins"/>
              </a:rPr>
              <a:t>Simetría: Σᵢⱼ = Σⱼᵢ</a:t>
            </a:r>
          </a:p>
          <a:p>
            <a:pPr algn="l" marL="431799" indent="-215899" lvl="1">
              <a:lnSpc>
                <a:spcPts val="1999"/>
              </a:lnSpc>
              <a:buAutoNum type="arabicPeriod" startAt="1"/>
            </a:pPr>
            <a:r>
              <a:rPr lang="en-US" sz="1999" spc="-39">
                <a:solidFill>
                  <a:srgbClr val="D5D5D5"/>
                </a:solidFill>
                <a:latin typeface="Poppins"/>
                <a:ea typeface="Poppins"/>
                <a:cs typeface="Poppins"/>
                <a:sym typeface="Poppins"/>
              </a:rPr>
              <a:t>Semidefinida positiva: todos los eigenvalores ≥ 0</a:t>
            </a:r>
          </a:p>
          <a:p>
            <a:pPr algn="l" marL="431799" indent="-215899" lvl="1">
              <a:lnSpc>
                <a:spcPts val="1999"/>
              </a:lnSpc>
              <a:buAutoNum type="arabicPeriod" startAt="1"/>
            </a:pPr>
            <a:r>
              <a:rPr lang="en-US" sz="1999" spc="-39">
                <a:solidFill>
                  <a:srgbClr val="D5D5D5"/>
                </a:solidFill>
                <a:latin typeface="Poppins"/>
                <a:ea typeface="Poppins"/>
                <a:cs typeface="Poppins"/>
                <a:sym typeface="Poppins"/>
              </a:rPr>
              <a:t>Diagonal: varianzas de cada variable</a:t>
            </a:r>
          </a:p>
          <a:p>
            <a:pPr algn="l" marL="431799" indent="-215899" lvl="1">
              <a:lnSpc>
                <a:spcPts val="1999"/>
              </a:lnSpc>
              <a:buAutoNum type="arabicPeriod" startAt="1"/>
            </a:pPr>
            <a:r>
              <a:rPr lang="en-US" sz="1999" spc="-39">
                <a:solidFill>
                  <a:srgbClr val="D5D5D5"/>
                </a:solidFill>
                <a:latin typeface="Poppins"/>
                <a:ea typeface="Poppins"/>
                <a:cs typeface="Poppins"/>
                <a:sym typeface="Poppins"/>
              </a:rPr>
              <a:t>Traza: suma de todas las varianzas</a:t>
            </a:r>
          </a:p>
          <a:p>
            <a:pPr algn="l">
              <a:lnSpc>
                <a:spcPts val="1999"/>
              </a:lnSpc>
            </a:pP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7460540" y="1642158"/>
            <a:ext cx="9798760" cy="7398064"/>
          </a:xfrm>
          <a:custGeom>
            <a:avLst/>
            <a:gdLst/>
            <a:ahLst/>
            <a:cxnLst/>
            <a:rect r="r" b="b" t="t" l="l"/>
            <a:pathLst>
              <a:path h="7398064" w="9798760">
                <a:moveTo>
                  <a:pt x="0" y="0"/>
                </a:moveTo>
                <a:lnTo>
                  <a:pt x="9798760" y="0"/>
                </a:lnTo>
                <a:lnTo>
                  <a:pt x="9798760" y="7398064"/>
                </a:lnTo>
                <a:lnTo>
                  <a:pt x="0" y="7398064"/>
                </a:lnTo>
                <a:lnTo>
                  <a:pt x="0" y="0"/>
                </a:lnTo>
                <a:close/>
              </a:path>
            </a:pathLst>
          </a:custGeom>
          <a:blipFill>
            <a:blip r:embed="rId2"/>
            <a:stretch>
              <a:fillRect l="0" t="0" r="0" b="0"/>
            </a:stretch>
          </a:blipFill>
        </p:spPr>
      </p:sp>
      <p:sp>
        <p:nvSpPr>
          <p:cNvPr name="TextBox 3" id="3"/>
          <p:cNvSpPr txBox="true"/>
          <p:nvPr/>
        </p:nvSpPr>
        <p:spPr>
          <a:xfrm rot="0">
            <a:off x="1028700" y="3488055"/>
            <a:ext cx="4329491" cy="1213484"/>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A continuacion se muestran los insights que se podrian percibir a simple vista o no son tan complejos</a:t>
            </a:r>
          </a:p>
        </p:txBody>
      </p:sp>
      <p:sp>
        <p:nvSpPr>
          <p:cNvPr name="TextBox 4" id="4"/>
          <p:cNvSpPr txBox="true"/>
          <p:nvPr/>
        </p:nvSpPr>
        <p:spPr>
          <a:xfrm rot="0">
            <a:off x="1028700" y="1304925"/>
            <a:ext cx="6258719" cy="215455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HIPOTESIS E INSIGHTS</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29</a:t>
            </a:r>
          </a:p>
        </p:txBody>
      </p:sp>
      <p:sp>
        <p:nvSpPr>
          <p:cNvPr name="TextBox 6" id="6"/>
          <p:cNvSpPr txBox="true"/>
          <p:nvPr/>
        </p:nvSpPr>
        <p:spPr>
          <a:xfrm rot="0">
            <a:off x="1028700" y="4839970"/>
            <a:ext cx="6023207" cy="25133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Preferencia de marca por Genero:</a:t>
            </a:r>
          </a:p>
          <a:p>
            <a:pPr algn="just">
              <a:lnSpc>
                <a:spcPts val="2199"/>
              </a:lnSpc>
            </a:pPr>
            <a:r>
              <a:rPr lang="en-US" sz="2199" spc="-43">
                <a:solidFill>
                  <a:srgbClr val="D5D5D5"/>
                </a:solidFill>
                <a:latin typeface="Poppins"/>
                <a:ea typeface="Poppins"/>
                <a:cs typeface="Poppins"/>
                <a:sym typeface="Poppins"/>
              </a:rPr>
              <a:t xml:space="preserve"> Marca_cat      Hombre          Mujer         </a:t>
            </a:r>
          </a:p>
          <a:p>
            <a:pPr algn="just">
              <a:lnSpc>
                <a:spcPts val="2199"/>
              </a:lnSpc>
            </a:pPr>
            <a:r>
              <a:rPr lang="en-US" sz="2199" spc="-43">
                <a:solidFill>
                  <a:srgbClr val="D5D5D5"/>
                </a:solidFill>
                <a:latin typeface="Poppins"/>
                <a:ea typeface="Poppins"/>
                <a:cs typeface="Poppins"/>
                <a:sym typeface="Poppins"/>
              </a:rPr>
              <a:t>Apple                      28.9              32.1</a:t>
            </a:r>
          </a:p>
          <a:p>
            <a:pPr algn="just">
              <a:lnSpc>
                <a:spcPts val="2199"/>
              </a:lnSpc>
            </a:pPr>
            <a:r>
              <a:rPr lang="en-US" sz="2199" spc="-43">
                <a:solidFill>
                  <a:srgbClr val="D5D5D5"/>
                </a:solidFill>
                <a:latin typeface="Poppins"/>
                <a:ea typeface="Poppins"/>
                <a:cs typeface="Poppins"/>
                <a:sym typeface="Poppins"/>
              </a:rPr>
              <a:t>Motorola                  7.0               12.4</a:t>
            </a:r>
          </a:p>
          <a:p>
            <a:pPr algn="just">
              <a:lnSpc>
                <a:spcPts val="2199"/>
              </a:lnSpc>
            </a:pPr>
            <a:r>
              <a:rPr lang="en-US" sz="2199" spc="-43">
                <a:solidFill>
                  <a:srgbClr val="D5D5D5"/>
                </a:solidFill>
                <a:latin typeface="Poppins"/>
                <a:ea typeface="Poppins"/>
                <a:cs typeface="Poppins"/>
                <a:sym typeface="Poppins"/>
              </a:rPr>
              <a:t>Oppo                        4.8                4.4</a:t>
            </a:r>
          </a:p>
          <a:p>
            <a:pPr algn="just">
              <a:lnSpc>
                <a:spcPts val="2199"/>
              </a:lnSpc>
            </a:pPr>
            <a:r>
              <a:rPr lang="en-US" sz="2199" spc="-43">
                <a:solidFill>
                  <a:srgbClr val="D5D5D5"/>
                </a:solidFill>
                <a:latin typeface="Poppins"/>
                <a:ea typeface="Poppins"/>
                <a:cs typeface="Poppins"/>
                <a:sym typeface="Poppins"/>
              </a:rPr>
              <a:t>Otra                          15.8               11.7</a:t>
            </a:r>
          </a:p>
          <a:p>
            <a:pPr algn="just">
              <a:lnSpc>
                <a:spcPts val="2199"/>
              </a:lnSpc>
            </a:pPr>
            <a:r>
              <a:rPr lang="en-US" sz="2199" spc="-43">
                <a:solidFill>
                  <a:srgbClr val="D5D5D5"/>
                </a:solidFill>
                <a:latin typeface="Poppins"/>
                <a:ea typeface="Poppins"/>
                <a:cs typeface="Poppins"/>
                <a:sym typeface="Poppins"/>
              </a:rPr>
              <a:t>Samsung               26.5             29.2</a:t>
            </a:r>
          </a:p>
          <a:p>
            <a:pPr algn="just">
              <a:lnSpc>
                <a:spcPts val="2199"/>
              </a:lnSpc>
            </a:pPr>
            <a:r>
              <a:rPr lang="en-US" sz="2199" spc="-43">
                <a:solidFill>
                  <a:srgbClr val="D5D5D5"/>
                </a:solidFill>
                <a:latin typeface="Poppins"/>
                <a:ea typeface="Poppins"/>
                <a:cs typeface="Poppins"/>
                <a:sym typeface="Poppins"/>
              </a:rPr>
              <a:t>Xiaomi                      17.1               10.2</a:t>
            </a:r>
          </a:p>
          <a:p>
            <a:pPr algn="just">
              <a:lnSpc>
                <a:spcPts val="2199"/>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6707951" y="1621987"/>
            <a:ext cx="10551349" cy="7043025"/>
          </a:xfrm>
          <a:custGeom>
            <a:avLst/>
            <a:gdLst/>
            <a:ahLst/>
            <a:cxnLst/>
            <a:rect r="r" b="b" t="t" l="l"/>
            <a:pathLst>
              <a:path h="7043025" w="10551349">
                <a:moveTo>
                  <a:pt x="0" y="0"/>
                </a:moveTo>
                <a:lnTo>
                  <a:pt x="10551349" y="0"/>
                </a:lnTo>
                <a:lnTo>
                  <a:pt x="10551349" y="7043026"/>
                </a:lnTo>
                <a:lnTo>
                  <a:pt x="0" y="7043026"/>
                </a:lnTo>
                <a:lnTo>
                  <a:pt x="0" y="0"/>
                </a:lnTo>
                <a:close/>
              </a:path>
            </a:pathLst>
          </a:custGeom>
          <a:blipFill>
            <a:blip r:embed="rId2"/>
            <a:stretch>
              <a:fillRect l="0" t="0" r="0" b="0"/>
            </a:stretch>
          </a:blipFill>
        </p:spPr>
      </p:sp>
      <p:sp>
        <p:nvSpPr>
          <p:cNvPr name="TextBox 3" id="3"/>
          <p:cNvSpPr txBox="true"/>
          <p:nvPr/>
        </p:nvSpPr>
        <p:spPr>
          <a:xfrm rot="0">
            <a:off x="1028700" y="1057275"/>
            <a:ext cx="4329491" cy="1213484"/>
          </a:xfrm>
          <a:prstGeom prst="rect">
            <a:avLst/>
          </a:prstGeom>
        </p:spPr>
        <p:txBody>
          <a:bodyPr anchor="t" rtlCol="false" tIns="0" lIns="0" bIns="0" rIns="0">
            <a:spAutoFit/>
          </a:bodyPr>
          <a:lstStyle/>
          <a:p>
            <a:pPr algn="l">
              <a:lnSpc>
                <a:spcPts val="2399"/>
              </a:lnSpc>
            </a:pPr>
            <a:r>
              <a:rPr lang="en-US" b="true" sz="2399" spc="-47">
                <a:solidFill>
                  <a:srgbClr val="D5D5D5"/>
                </a:solidFill>
                <a:latin typeface="Poppins Bold"/>
                <a:ea typeface="Poppins Bold"/>
                <a:cs typeface="Poppins Bold"/>
                <a:sym typeface="Poppins Bold"/>
              </a:rPr>
              <a:t>A continuacion se muestran los insights que se podrian percibir a simple vista o no son tan complejos</a:t>
            </a:r>
          </a:p>
        </p:txBody>
      </p:sp>
      <p:sp>
        <p:nvSpPr>
          <p:cNvPr name="TextBox 4" id="4"/>
          <p:cNvSpPr txBox="true"/>
          <p:nvPr/>
        </p:nvSpPr>
        <p:spPr>
          <a:xfrm rot="0">
            <a:off x="1028700" y="5879206"/>
            <a:ext cx="5280355" cy="3126105"/>
          </a:xfrm>
          <a:prstGeom prst="rect">
            <a:avLst/>
          </a:prstGeom>
        </p:spPr>
        <p:txBody>
          <a:bodyPr anchor="t" rtlCol="false" tIns="0" lIns="0" bIns="0" rIns="0">
            <a:spAutoFit/>
          </a:bodyPr>
          <a:lstStyle/>
          <a:p>
            <a:pPr algn="l">
              <a:lnSpc>
                <a:spcPts val="7680"/>
              </a:lnSpc>
            </a:pPr>
            <a:r>
              <a:rPr lang="en-US" b="true" sz="9600" spc="-998">
                <a:solidFill>
                  <a:srgbClr val="D5D5D5"/>
                </a:solidFill>
                <a:latin typeface="Poppins Ultra-Bold"/>
                <a:ea typeface="Poppins Ultra-Bold"/>
                <a:cs typeface="Poppins Ultra-Bold"/>
                <a:sym typeface="Poppins Ultra-Bold"/>
              </a:rPr>
              <a:t>HIPOTESIS E INSIGHTS</a:t>
            </a:r>
          </a:p>
        </p:txBody>
      </p:sp>
      <p:sp>
        <p:nvSpPr>
          <p:cNvPr name="TextBox 5" id="5"/>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30</a:t>
            </a:r>
          </a:p>
        </p:txBody>
      </p:sp>
      <p:sp>
        <p:nvSpPr>
          <p:cNvPr name="TextBox 6" id="6"/>
          <p:cNvSpPr txBox="true"/>
          <p:nvPr/>
        </p:nvSpPr>
        <p:spPr>
          <a:xfrm rot="0">
            <a:off x="2346588" y="2929669"/>
            <a:ext cx="6023207" cy="2513330"/>
          </a:xfrm>
          <a:prstGeom prst="rect">
            <a:avLst/>
          </a:prstGeom>
        </p:spPr>
        <p:txBody>
          <a:bodyPr anchor="t" rtlCol="false" tIns="0" lIns="0" bIns="0" rIns="0">
            <a:spAutoFit/>
          </a:bodyPr>
          <a:lstStyle/>
          <a:p>
            <a:pPr algn="just">
              <a:lnSpc>
                <a:spcPts val="2199"/>
              </a:lnSpc>
            </a:pPr>
            <a:r>
              <a:rPr lang="en-US" sz="2199" spc="-43">
                <a:solidFill>
                  <a:srgbClr val="D5D5D5"/>
                </a:solidFill>
                <a:latin typeface="Poppins"/>
                <a:ea typeface="Poppins"/>
                <a:cs typeface="Poppins"/>
                <a:sym typeface="Poppins"/>
              </a:rPr>
              <a:t xml:space="preserve"> Lealtad de marca:</a:t>
            </a:r>
          </a:p>
          <a:p>
            <a:pPr algn="just">
              <a:lnSpc>
                <a:spcPts val="2199"/>
              </a:lnSpc>
            </a:pPr>
            <a:r>
              <a:rPr lang="en-US" sz="2199" spc="-43">
                <a:solidFill>
                  <a:srgbClr val="D5D5D5"/>
                </a:solidFill>
                <a:latin typeface="Poppins"/>
                <a:ea typeface="Poppins"/>
                <a:cs typeface="Poppins"/>
                <a:sym typeface="Poppins"/>
              </a:rPr>
              <a:t xml:space="preserve"> Marca_cat              </a:t>
            </a:r>
          </a:p>
          <a:p>
            <a:pPr algn="just">
              <a:lnSpc>
                <a:spcPts val="2199"/>
              </a:lnSpc>
            </a:pPr>
            <a:r>
              <a:rPr lang="en-US" sz="2199" spc="-43">
                <a:solidFill>
                  <a:srgbClr val="D5D5D5"/>
                </a:solidFill>
                <a:latin typeface="Poppins"/>
                <a:ea typeface="Poppins"/>
                <a:cs typeface="Poppins"/>
                <a:sym typeface="Poppins"/>
              </a:rPr>
              <a:t>Apple                     86.1%</a:t>
            </a:r>
          </a:p>
          <a:p>
            <a:pPr algn="just">
              <a:lnSpc>
                <a:spcPts val="2199"/>
              </a:lnSpc>
            </a:pPr>
            <a:r>
              <a:rPr lang="en-US" sz="2199" spc="-43">
                <a:solidFill>
                  <a:srgbClr val="D5D5D5"/>
                </a:solidFill>
                <a:latin typeface="Poppins"/>
                <a:ea typeface="Poppins"/>
                <a:cs typeface="Poppins"/>
                <a:sym typeface="Poppins"/>
              </a:rPr>
              <a:t>Motorola               31.6%</a:t>
            </a:r>
          </a:p>
          <a:p>
            <a:pPr algn="just">
              <a:lnSpc>
                <a:spcPts val="2199"/>
              </a:lnSpc>
            </a:pPr>
            <a:r>
              <a:rPr lang="en-US" sz="2199" spc="-43">
                <a:solidFill>
                  <a:srgbClr val="D5D5D5"/>
                </a:solidFill>
                <a:latin typeface="Poppins"/>
                <a:ea typeface="Poppins"/>
                <a:cs typeface="Poppins"/>
                <a:sym typeface="Poppins"/>
              </a:rPr>
              <a:t xml:space="preserve">Oppo                     27.3%         </a:t>
            </a:r>
          </a:p>
          <a:p>
            <a:pPr algn="just">
              <a:lnSpc>
                <a:spcPts val="2199"/>
              </a:lnSpc>
            </a:pPr>
            <a:r>
              <a:rPr lang="en-US" sz="2199" spc="-43">
                <a:solidFill>
                  <a:srgbClr val="D5D5D5"/>
                </a:solidFill>
                <a:latin typeface="Poppins"/>
                <a:ea typeface="Poppins"/>
                <a:cs typeface="Poppins"/>
                <a:sym typeface="Poppins"/>
              </a:rPr>
              <a:t xml:space="preserve">Otra                       20.3%  </a:t>
            </a:r>
          </a:p>
          <a:p>
            <a:pPr algn="just">
              <a:lnSpc>
                <a:spcPts val="2199"/>
              </a:lnSpc>
            </a:pPr>
            <a:r>
              <a:rPr lang="en-US" sz="2199" spc="-43">
                <a:solidFill>
                  <a:srgbClr val="D5D5D5"/>
                </a:solidFill>
                <a:latin typeface="Poppins"/>
                <a:ea typeface="Poppins"/>
                <a:cs typeface="Poppins"/>
                <a:sym typeface="Poppins"/>
              </a:rPr>
              <a:t>Samsung             75.8%</a:t>
            </a:r>
          </a:p>
          <a:p>
            <a:pPr algn="just">
              <a:lnSpc>
                <a:spcPts val="2199"/>
              </a:lnSpc>
            </a:pPr>
            <a:r>
              <a:rPr lang="en-US" sz="2199" spc="-43">
                <a:solidFill>
                  <a:srgbClr val="D5D5D5"/>
                </a:solidFill>
                <a:latin typeface="Poppins"/>
                <a:ea typeface="Poppins"/>
                <a:cs typeface="Poppins"/>
                <a:sym typeface="Poppins"/>
              </a:rPr>
              <a:t xml:space="preserve">Xiaomi                   32.9%  </a:t>
            </a:r>
          </a:p>
          <a:p>
            <a:pPr algn="just">
              <a:lnSpc>
                <a:spcPts val="2199"/>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5237651" y="2196415"/>
            <a:ext cx="12021649" cy="6822286"/>
          </a:xfrm>
          <a:custGeom>
            <a:avLst/>
            <a:gdLst/>
            <a:ahLst/>
            <a:cxnLst/>
            <a:rect r="r" b="b" t="t" l="l"/>
            <a:pathLst>
              <a:path h="6822286" w="12021649">
                <a:moveTo>
                  <a:pt x="0" y="0"/>
                </a:moveTo>
                <a:lnTo>
                  <a:pt x="12021649" y="0"/>
                </a:lnTo>
                <a:lnTo>
                  <a:pt x="12021649" y="6822286"/>
                </a:lnTo>
                <a:lnTo>
                  <a:pt x="0" y="6822286"/>
                </a:lnTo>
                <a:lnTo>
                  <a:pt x="0" y="0"/>
                </a:lnTo>
                <a:close/>
              </a:path>
            </a:pathLst>
          </a:custGeom>
          <a:blipFill>
            <a:blip r:embed="rId2"/>
            <a:stretch>
              <a:fillRect l="0" t="0" r="0" b="0"/>
            </a:stretch>
          </a:blipFill>
        </p:spPr>
      </p:sp>
      <p:sp>
        <p:nvSpPr>
          <p:cNvPr name="TextBox 3" id="3"/>
          <p:cNvSpPr txBox="true"/>
          <p:nvPr/>
        </p:nvSpPr>
        <p:spPr>
          <a:xfrm rot="0">
            <a:off x="1028700" y="1238250"/>
            <a:ext cx="15557541" cy="3298190"/>
          </a:xfrm>
          <a:prstGeom prst="rect">
            <a:avLst/>
          </a:prstGeom>
        </p:spPr>
        <p:txBody>
          <a:bodyPr anchor="t" rtlCol="false" tIns="0" lIns="0" bIns="0" rIns="0">
            <a:spAutoFit/>
          </a:bodyPr>
          <a:lstStyle/>
          <a:p>
            <a:pPr algn="l">
              <a:lnSpc>
                <a:spcPts val="5599"/>
              </a:lnSpc>
            </a:pPr>
            <a:r>
              <a:rPr lang="en-US" b="true" sz="6999" spc="-727">
                <a:solidFill>
                  <a:srgbClr val="D5D5D5"/>
                </a:solidFill>
                <a:latin typeface="Poppins Ultra-Bold"/>
                <a:ea typeface="Poppins Ultra-Bold"/>
                <a:cs typeface="Poppins Ultra-Bold"/>
                <a:sym typeface="Poppins Ultra-Bold"/>
              </a:rPr>
              <a:t xml:space="preserve">XIAOMI Y MOTOROLA SON MARCAS TEMPORALES, NO </a:t>
            </a:r>
          </a:p>
          <a:p>
            <a:pPr algn="l">
              <a:lnSpc>
                <a:spcPts val="5599"/>
              </a:lnSpc>
            </a:pPr>
            <a:r>
              <a:rPr lang="en-US" b="true" sz="6999" spc="-727">
                <a:solidFill>
                  <a:srgbClr val="D5D5D5"/>
                </a:solidFill>
                <a:latin typeface="Poppins Ultra-Bold"/>
                <a:ea typeface="Poppins Ultra-Bold"/>
                <a:cs typeface="Poppins Ultra-Bold"/>
                <a:sym typeface="Poppins Ultra-Bold"/>
              </a:rPr>
              <a:t>DESTINOS</a:t>
            </a:r>
          </a:p>
          <a:p>
            <a:pPr algn="l">
              <a:lnSpc>
                <a:spcPts val="7680"/>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31</a:t>
            </a:r>
          </a:p>
        </p:txBody>
      </p:sp>
      <p:sp>
        <p:nvSpPr>
          <p:cNvPr name="TextBox 5" id="5"/>
          <p:cNvSpPr txBox="true"/>
          <p:nvPr/>
        </p:nvSpPr>
        <p:spPr>
          <a:xfrm rot="0">
            <a:off x="1028700" y="3901948"/>
            <a:ext cx="3955374" cy="4020819"/>
          </a:xfrm>
          <a:prstGeom prst="rect">
            <a:avLst/>
          </a:prstGeom>
        </p:spPr>
        <p:txBody>
          <a:bodyPr anchor="t" rtlCol="false" tIns="0" lIns="0" bIns="0" rIns="0">
            <a:spAutoFit/>
          </a:bodyPr>
          <a:lstStyle/>
          <a:p>
            <a:pPr algn="l">
              <a:lnSpc>
                <a:spcPts val="2299"/>
              </a:lnSpc>
            </a:pPr>
            <a:r>
              <a:rPr lang="en-US" sz="2299" spc="-45">
                <a:solidFill>
                  <a:srgbClr val="D5D5D5"/>
                </a:solidFill>
                <a:latin typeface="Poppins"/>
                <a:ea typeface="Poppins"/>
                <a:cs typeface="Poppins"/>
                <a:sym typeface="Poppins"/>
              </a:rPr>
              <a:t>El análisis muestra un flujo de migración hacia Apple y Samsung, que son las únicas marcas con ganancia neta de usuarios. En contraste, Xiaomi y Motorola pierden usuarios, ya que muchos desean cambiar a otras marcas. Esto indica que estas últimas funcionan como marcas de entrada, pero no de permanencia dentro del mercado estudiantil.</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1710888" y="1028700"/>
            <a:ext cx="15131595" cy="4917768"/>
          </a:xfrm>
          <a:custGeom>
            <a:avLst/>
            <a:gdLst/>
            <a:ahLst/>
            <a:cxnLst/>
            <a:rect r="r" b="b" t="t" l="l"/>
            <a:pathLst>
              <a:path h="4917768" w="15131595">
                <a:moveTo>
                  <a:pt x="0" y="0"/>
                </a:moveTo>
                <a:lnTo>
                  <a:pt x="15131595" y="0"/>
                </a:lnTo>
                <a:lnTo>
                  <a:pt x="15131595" y="4917768"/>
                </a:lnTo>
                <a:lnTo>
                  <a:pt x="0" y="4917768"/>
                </a:lnTo>
                <a:lnTo>
                  <a:pt x="0" y="0"/>
                </a:lnTo>
                <a:close/>
              </a:path>
            </a:pathLst>
          </a:custGeom>
          <a:blipFill>
            <a:blip r:embed="rId2"/>
            <a:stretch>
              <a:fillRect l="0" t="0" r="0" b="0"/>
            </a:stretch>
          </a:blipFill>
        </p:spPr>
      </p:sp>
      <p:sp>
        <p:nvSpPr>
          <p:cNvPr name="TextBox 3" id="3"/>
          <p:cNvSpPr txBox="true"/>
          <p:nvPr/>
        </p:nvSpPr>
        <p:spPr>
          <a:xfrm rot="0">
            <a:off x="1028700" y="6292850"/>
            <a:ext cx="11224789" cy="2965450"/>
          </a:xfrm>
          <a:prstGeom prst="rect">
            <a:avLst/>
          </a:prstGeom>
        </p:spPr>
        <p:txBody>
          <a:bodyPr anchor="t" rtlCol="false" tIns="0" lIns="0" bIns="0" rIns="0">
            <a:spAutoFit/>
          </a:bodyPr>
          <a:lstStyle/>
          <a:p>
            <a:pPr algn="l">
              <a:lnSpc>
                <a:spcPts val="5599"/>
              </a:lnSpc>
            </a:pPr>
            <a:r>
              <a:rPr lang="en-US" b="true" sz="6999" spc="-727">
                <a:solidFill>
                  <a:srgbClr val="D5D5D5"/>
                </a:solidFill>
                <a:latin typeface="Poppins Ultra-Bold"/>
                <a:ea typeface="Poppins Ultra-Bold"/>
                <a:cs typeface="Poppins Ultra-Bold"/>
                <a:sym typeface="Poppins Ultra-Bold"/>
              </a:rPr>
              <a:t>LOS ESTUDIANTES DESFASADOS TRABAJAN EL DOBLE, PERO NO INVIERTEN EN TECNOLOGÍA</a:t>
            </a: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32</a:t>
            </a:r>
          </a:p>
        </p:txBody>
      </p:sp>
      <p:sp>
        <p:nvSpPr>
          <p:cNvPr name="TextBox 5" id="5"/>
          <p:cNvSpPr txBox="true"/>
          <p:nvPr/>
        </p:nvSpPr>
        <p:spPr>
          <a:xfrm rot="0">
            <a:off x="12150095" y="6376455"/>
            <a:ext cx="5109205" cy="3065780"/>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Los estudiantes “desfasados” trabajan mucho más que los que van en rango, pero no tienen mejores teléfonos. Esto indica que el ingreso extra no se usa para tecnología, sino que probablemente responde a necesidades económicas, y además el trabajo parece afectar su desempeño académico en lugar de beneficiarlo.</a:t>
            </a:r>
          </a:p>
          <a:p>
            <a:pPr algn="l">
              <a:lnSpc>
                <a:spcPts val="2199"/>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3153993" y="3822803"/>
            <a:ext cx="13137152" cy="5435497"/>
          </a:xfrm>
          <a:custGeom>
            <a:avLst/>
            <a:gdLst/>
            <a:ahLst/>
            <a:cxnLst/>
            <a:rect r="r" b="b" t="t" l="l"/>
            <a:pathLst>
              <a:path h="5435497" w="13137152">
                <a:moveTo>
                  <a:pt x="0" y="0"/>
                </a:moveTo>
                <a:lnTo>
                  <a:pt x="13137152" y="0"/>
                </a:lnTo>
                <a:lnTo>
                  <a:pt x="13137152" y="5435497"/>
                </a:lnTo>
                <a:lnTo>
                  <a:pt x="0" y="5435497"/>
                </a:lnTo>
                <a:lnTo>
                  <a:pt x="0" y="0"/>
                </a:lnTo>
                <a:close/>
              </a:path>
            </a:pathLst>
          </a:custGeom>
          <a:blipFill>
            <a:blip r:embed="rId2"/>
            <a:stretch>
              <a:fillRect l="0" t="0" r="0" b="0"/>
            </a:stretch>
          </a:blipFill>
        </p:spPr>
      </p:sp>
      <p:sp>
        <p:nvSpPr>
          <p:cNvPr name="TextBox 3" id="3"/>
          <p:cNvSpPr txBox="true"/>
          <p:nvPr/>
        </p:nvSpPr>
        <p:spPr>
          <a:xfrm rot="0">
            <a:off x="7087440" y="1427162"/>
            <a:ext cx="10171860" cy="2965450"/>
          </a:xfrm>
          <a:prstGeom prst="rect">
            <a:avLst/>
          </a:prstGeom>
        </p:spPr>
        <p:txBody>
          <a:bodyPr anchor="t" rtlCol="false" tIns="0" lIns="0" bIns="0" rIns="0">
            <a:spAutoFit/>
          </a:bodyPr>
          <a:lstStyle/>
          <a:p>
            <a:pPr algn="l">
              <a:lnSpc>
                <a:spcPts val="5599"/>
              </a:lnSpc>
            </a:pPr>
            <a:r>
              <a:rPr lang="en-US" b="true" sz="6999" spc="-727">
                <a:solidFill>
                  <a:srgbClr val="D5D5D5"/>
                </a:solidFill>
                <a:latin typeface="Poppins Ultra-Bold"/>
                <a:ea typeface="Poppins Ultra-Bold"/>
                <a:cs typeface="Poppins Ultra-Bold"/>
                <a:sym typeface="Poppins Ultra-Bold"/>
              </a:rPr>
              <a:t>APPLE TIENE UN MERCADO DE SEGUNDA MANO QUE NADIE MÁS TIENE</a:t>
            </a:r>
          </a:p>
          <a:p>
            <a:pPr algn="l">
              <a:lnSpc>
                <a:spcPts val="5599"/>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33</a:t>
            </a:r>
          </a:p>
        </p:txBody>
      </p:sp>
      <p:sp>
        <p:nvSpPr>
          <p:cNvPr name="TextBox 5" id="5"/>
          <p:cNvSpPr txBox="true"/>
          <p:nvPr/>
        </p:nvSpPr>
        <p:spPr>
          <a:xfrm rot="0">
            <a:off x="1208399" y="1246187"/>
            <a:ext cx="5759241" cy="2513330"/>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Apple destaca porque tiene más usuarios con dispositivos de segunda mano que otras marcas, generalmente de generaciones anteriores. Esto sugiere un “efecto cascada”, donde los iPhones usados funcionan como puerta de entrada al ecosistema, y posteriormente estos usuarios tienden a migrar a dispositivos nuevos de la misma marca.</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4976182" y="2822509"/>
            <a:ext cx="12283118" cy="5174263"/>
          </a:xfrm>
          <a:custGeom>
            <a:avLst/>
            <a:gdLst/>
            <a:ahLst/>
            <a:cxnLst/>
            <a:rect r="r" b="b" t="t" l="l"/>
            <a:pathLst>
              <a:path h="5174263" w="12283118">
                <a:moveTo>
                  <a:pt x="0" y="0"/>
                </a:moveTo>
                <a:lnTo>
                  <a:pt x="12283118" y="0"/>
                </a:lnTo>
                <a:lnTo>
                  <a:pt x="12283118" y="5174263"/>
                </a:lnTo>
                <a:lnTo>
                  <a:pt x="0" y="5174263"/>
                </a:lnTo>
                <a:lnTo>
                  <a:pt x="0" y="0"/>
                </a:lnTo>
                <a:close/>
              </a:path>
            </a:pathLst>
          </a:custGeom>
          <a:blipFill>
            <a:blip r:embed="rId2"/>
            <a:stretch>
              <a:fillRect l="0" t="0" r="0" b="0"/>
            </a:stretch>
          </a:blipFill>
        </p:spPr>
      </p:sp>
      <p:sp>
        <p:nvSpPr>
          <p:cNvPr name="TextBox 3" id="3"/>
          <p:cNvSpPr txBox="true"/>
          <p:nvPr/>
        </p:nvSpPr>
        <p:spPr>
          <a:xfrm rot="0">
            <a:off x="1028700" y="1238250"/>
            <a:ext cx="10305948" cy="2965450"/>
          </a:xfrm>
          <a:prstGeom prst="rect">
            <a:avLst/>
          </a:prstGeom>
        </p:spPr>
        <p:txBody>
          <a:bodyPr anchor="t" rtlCol="false" tIns="0" lIns="0" bIns="0" rIns="0">
            <a:spAutoFit/>
          </a:bodyPr>
          <a:lstStyle/>
          <a:p>
            <a:pPr algn="l">
              <a:lnSpc>
                <a:spcPts val="5599"/>
              </a:lnSpc>
            </a:pPr>
            <a:r>
              <a:rPr lang="en-US" b="true" sz="6999" spc="-727">
                <a:solidFill>
                  <a:srgbClr val="D5D5D5"/>
                </a:solidFill>
                <a:latin typeface="Poppins Ultra-Bold"/>
                <a:ea typeface="Poppins Ultra-Bold"/>
                <a:cs typeface="Poppins Ultra-Bold"/>
                <a:sym typeface="Poppins Ultra-Bold"/>
              </a:rPr>
              <a:t>LOS HIJOS ÚNICOS TIENEN TELÉFONOS 23% MÁS CAROS</a:t>
            </a:r>
          </a:p>
          <a:p>
            <a:pPr algn="l">
              <a:lnSpc>
                <a:spcPts val="5599"/>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34</a:t>
            </a:r>
          </a:p>
        </p:txBody>
      </p:sp>
      <p:sp>
        <p:nvSpPr>
          <p:cNvPr name="TextBox 5" id="5"/>
          <p:cNvSpPr txBox="true"/>
          <p:nvPr/>
        </p:nvSpPr>
        <p:spPr>
          <a:xfrm rot="0">
            <a:off x="1028700" y="3901123"/>
            <a:ext cx="3562916" cy="4446905"/>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Los hijos únicos tienen teléfonos con 23% más capacidad promedio (261 GB vs 212 GB). Este hallazgo aparece al cruzar una variable aparentemente irrelevante (¿tienes hermanos?) con capacidad, revelando que la estructura familiar nos da una pista del presupuesto disponible por hijo para tecnología.</a:t>
            </a:r>
          </a:p>
          <a:p>
            <a:pPr algn="l">
              <a:lnSpc>
                <a:spcPts val="2199"/>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6242408" y="1028700"/>
            <a:ext cx="10252899" cy="6241452"/>
          </a:xfrm>
          <a:custGeom>
            <a:avLst/>
            <a:gdLst/>
            <a:ahLst/>
            <a:cxnLst/>
            <a:rect r="r" b="b" t="t" l="l"/>
            <a:pathLst>
              <a:path h="6241452" w="10252899">
                <a:moveTo>
                  <a:pt x="0" y="0"/>
                </a:moveTo>
                <a:lnTo>
                  <a:pt x="10252898" y="0"/>
                </a:lnTo>
                <a:lnTo>
                  <a:pt x="10252898" y="6241452"/>
                </a:lnTo>
                <a:lnTo>
                  <a:pt x="0" y="6241452"/>
                </a:lnTo>
                <a:lnTo>
                  <a:pt x="0" y="0"/>
                </a:lnTo>
                <a:close/>
              </a:path>
            </a:pathLst>
          </a:custGeom>
          <a:blipFill>
            <a:blip r:embed="rId2"/>
            <a:stretch>
              <a:fillRect l="0" t="0" r="0" b="0"/>
            </a:stretch>
          </a:blipFill>
        </p:spPr>
      </p:sp>
      <p:sp>
        <p:nvSpPr>
          <p:cNvPr name="TextBox 3" id="3"/>
          <p:cNvSpPr txBox="true"/>
          <p:nvPr/>
        </p:nvSpPr>
        <p:spPr>
          <a:xfrm rot="0">
            <a:off x="1248333" y="7702550"/>
            <a:ext cx="15577130" cy="1555750"/>
          </a:xfrm>
          <a:prstGeom prst="rect">
            <a:avLst/>
          </a:prstGeom>
        </p:spPr>
        <p:txBody>
          <a:bodyPr anchor="t" rtlCol="false" tIns="0" lIns="0" bIns="0" rIns="0">
            <a:spAutoFit/>
          </a:bodyPr>
          <a:lstStyle/>
          <a:p>
            <a:pPr algn="l">
              <a:lnSpc>
                <a:spcPts val="5599"/>
              </a:lnSpc>
            </a:pPr>
            <a:r>
              <a:rPr lang="en-US" b="true" sz="6999" spc="-727">
                <a:solidFill>
                  <a:srgbClr val="D5D5D5"/>
                </a:solidFill>
                <a:latin typeface="Poppins Ultra-Bold"/>
                <a:ea typeface="Poppins Ultra-Bold"/>
                <a:cs typeface="Poppins Ultra-Bold"/>
                <a:sym typeface="Poppins Ultra-Bold"/>
              </a:rPr>
              <a:t>LOS ALUMNOS IRREGULARES TIENEN MÁS TELÉFONOS PREMIUM</a:t>
            </a: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35</a:t>
            </a:r>
          </a:p>
        </p:txBody>
      </p:sp>
      <p:sp>
        <p:nvSpPr>
          <p:cNvPr name="TextBox 5" id="5"/>
          <p:cNvSpPr txBox="true"/>
          <p:nvPr/>
        </p:nvSpPr>
        <p:spPr>
          <a:xfrm rot="0">
            <a:off x="1607731" y="2078374"/>
            <a:ext cx="3562916" cy="4170680"/>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Los alumnos irregulares tienen 44.8% de teléfonos premium vs 38.6% de los regulares. Esto invierte la expectativa de que rendimiento académico correlacione con nivel socioeconómico. La explicación más probable es que los irregulares tienden a ser mayores y a trabajar, dándoles acceso directo a compra de dispositivos.</a:t>
            </a:r>
          </a:p>
          <a:p>
            <a:pPr algn="l">
              <a:lnSpc>
                <a:spcPts val="2199"/>
              </a:lnSpc>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Freeform 2" id="2"/>
          <p:cNvSpPr/>
          <p:nvPr/>
        </p:nvSpPr>
        <p:spPr>
          <a:xfrm flipH="false" flipV="false" rot="0">
            <a:off x="3528750" y="1915019"/>
            <a:ext cx="10146078" cy="6988111"/>
          </a:xfrm>
          <a:custGeom>
            <a:avLst/>
            <a:gdLst/>
            <a:ahLst/>
            <a:cxnLst/>
            <a:rect r="r" b="b" t="t" l="l"/>
            <a:pathLst>
              <a:path h="6988111" w="10146078">
                <a:moveTo>
                  <a:pt x="0" y="0"/>
                </a:moveTo>
                <a:lnTo>
                  <a:pt x="10146078" y="0"/>
                </a:lnTo>
                <a:lnTo>
                  <a:pt x="10146078" y="6988112"/>
                </a:lnTo>
                <a:lnTo>
                  <a:pt x="0" y="6988112"/>
                </a:lnTo>
                <a:lnTo>
                  <a:pt x="0" y="0"/>
                </a:lnTo>
                <a:close/>
              </a:path>
            </a:pathLst>
          </a:custGeom>
          <a:blipFill>
            <a:blip r:embed="rId2"/>
            <a:stretch>
              <a:fillRect l="0" t="0" r="0" b="0"/>
            </a:stretch>
          </a:blipFill>
        </p:spPr>
      </p:sp>
      <p:sp>
        <p:nvSpPr>
          <p:cNvPr name="TextBox 3" id="3"/>
          <p:cNvSpPr txBox="true"/>
          <p:nvPr/>
        </p:nvSpPr>
        <p:spPr>
          <a:xfrm rot="0">
            <a:off x="14008201" y="2664256"/>
            <a:ext cx="3657071" cy="6238875"/>
          </a:xfrm>
          <a:prstGeom prst="rect">
            <a:avLst/>
          </a:prstGeom>
        </p:spPr>
        <p:txBody>
          <a:bodyPr anchor="t" rtlCol="false" tIns="0" lIns="0" bIns="0" rIns="0">
            <a:spAutoFit/>
          </a:bodyPr>
          <a:lstStyle/>
          <a:p>
            <a:pPr algn="l">
              <a:lnSpc>
                <a:spcPts val="4800"/>
              </a:lnSpc>
            </a:pPr>
            <a:r>
              <a:rPr lang="en-US" b="true" sz="6000" spc="-624">
                <a:solidFill>
                  <a:srgbClr val="D5D5D5"/>
                </a:solidFill>
                <a:latin typeface="Poppins Ultra-Bold"/>
                <a:ea typeface="Poppins Ultra-Bold"/>
                <a:cs typeface="Poppins Ultra-Bold"/>
                <a:sym typeface="Poppins Ultra-Bold"/>
              </a:rPr>
              <a:t>EL SEMESTRE 6 ES EL PICO DEL EMPLEO Y EL VALLE DEL PLAN CONTRATADO</a:t>
            </a:r>
          </a:p>
          <a:p>
            <a:pPr algn="l">
              <a:lnSpc>
                <a:spcPts val="4800"/>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36</a:t>
            </a:r>
          </a:p>
        </p:txBody>
      </p:sp>
      <p:sp>
        <p:nvSpPr>
          <p:cNvPr name="TextBox 5" id="5"/>
          <p:cNvSpPr txBox="true"/>
          <p:nvPr/>
        </p:nvSpPr>
        <p:spPr>
          <a:xfrm rot="0">
            <a:off x="1028700" y="1057275"/>
            <a:ext cx="12085163" cy="6104255"/>
          </a:xfrm>
          <a:prstGeom prst="rect">
            <a:avLst/>
          </a:prstGeom>
        </p:spPr>
        <p:txBody>
          <a:bodyPr anchor="t" rtlCol="false" tIns="0" lIns="0" bIns="0" rIns="0">
            <a:spAutoFit/>
          </a:bodyPr>
          <a:lstStyle/>
          <a:p>
            <a:pPr algn="l">
              <a:lnSpc>
                <a:spcPts val="2199"/>
              </a:lnSpc>
            </a:pPr>
            <a:r>
              <a:rPr lang="en-US" sz="2199" spc="-43">
                <a:solidFill>
                  <a:srgbClr val="D5D5D5"/>
                </a:solidFill>
                <a:latin typeface="Poppins"/>
                <a:ea typeface="Poppins"/>
                <a:cs typeface="Poppins"/>
                <a:sym typeface="Poppins"/>
              </a:rPr>
              <a:t xml:space="preserve">Al graficar métricas de consumo por semestre, emerge un patrón cíclico: el empleo alcanza su pico en semestre 6 (46.4%), exactamente donde el plan contratado llega a su mínimo (44.6%). </a:t>
            </a:r>
          </a:p>
          <a:p>
            <a:pPr algn="l">
              <a:lnSpc>
                <a:spcPts val="2199"/>
              </a:lnSpc>
            </a:pPr>
            <a:r>
              <a:rPr lang="en-US" sz="2199" spc="-43">
                <a:solidFill>
                  <a:srgbClr val="D5D5D5"/>
                </a:solidFill>
                <a:latin typeface="Poppins"/>
                <a:ea typeface="Poppins"/>
                <a:cs typeface="Poppins"/>
                <a:sym typeface="Poppins"/>
              </a:rPr>
              <a:t xml:space="preserve">La capacidad </a:t>
            </a:r>
          </a:p>
          <a:p>
            <a:pPr algn="l">
              <a:lnSpc>
                <a:spcPts val="2199"/>
              </a:lnSpc>
            </a:pPr>
            <a:r>
              <a:rPr lang="en-US" sz="2199" spc="-43">
                <a:solidFill>
                  <a:srgbClr val="D5D5D5"/>
                </a:solidFill>
                <a:latin typeface="Poppins"/>
                <a:ea typeface="Poppins"/>
                <a:cs typeface="Poppins"/>
                <a:sym typeface="Poppins"/>
              </a:rPr>
              <a:t xml:space="preserve">oscila con picos </a:t>
            </a:r>
          </a:p>
          <a:p>
            <a:pPr algn="l">
              <a:lnSpc>
                <a:spcPts val="2199"/>
              </a:lnSpc>
            </a:pPr>
            <a:r>
              <a:rPr lang="en-US" sz="2199" spc="-43">
                <a:solidFill>
                  <a:srgbClr val="D5D5D5"/>
                </a:solidFill>
                <a:latin typeface="Poppins"/>
                <a:ea typeface="Poppins"/>
                <a:cs typeface="Poppins"/>
                <a:sym typeface="Poppins"/>
              </a:rPr>
              <a:t>en semestres</a:t>
            </a:r>
          </a:p>
          <a:p>
            <a:pPr algn="l">
              <a:lnSpc>
                <a:spcPts val="2199"/>
              </a:lnSpc>
            </a:pPr>
            <a:r>
              <a:rPr lang="en-US" sz="2199" spc="-43">
                <a:solidFill>
                  <a:srgbClr val="D5D5D5"/>
                </a:solidFill>
                <a:latin typeface="Poppins"/>
                <a:ea typeface="Poppins"/>
                <a:cs typeface="Poppins"/>
                <a:sym typeface="Poppins"/>
              </a:rPr>
              <a:t xml:space="preserve"> impares, </a:t>
            </a:r>
          </a:p>
          <a:p>
            <a:pPr algn="l">
              <a:lnSpc>
                <a:spcPts val="2199"/>
              </a:lnSpc>
            </a:pPr>
            <a:r>
              <a:rPr lang="en-US" sz="2199" spc="-43">
                <a:solidFill>
                  <a:srgbClr val="D5D5D5"/>
                </a:solidFill>
                <a:latin typeface="Poppins"/>
                <a:ea typeface="Poppins"/>
                <a:cs typeface="Poppins"/>
                <a:sym typeface="Poppins"/>
              </a:rPr>
              <a:t xml:space="preserve">sugiriendo ciclos </a:t>
            </a:r>
          </a:p>
          <a:p>
            <a:pPr algn="l">
              <a:lnSpc>
                <a:spcPts val="2199"/>
              </a:lnSpc>
            </a:pPr>
            <a:r>
              <a:rPr lang="en-US" sz="2199" spc="-43">
                <a:solidFill>
                  <a:srgbClr val="D5D5D5"/>
                </a:solidFill>
                <a:latin typeface="Poppins"/>
                <a:ea typeface="Poppins"/>
                <a:cs typeface="Poppins"/>
                <a:sym typeface="Poppins"/>
              </a:rPr>
              <a:t xml:space="preserve">de renovación. </a:t>
            </a:r>
          </a:p>
          <a:p>
            <a:pPr algn="l">
              <a:lnSpc>
                <a:spcPts val="2199"/>
              </a:lnSpc>
            </a:pPr>
            <a:r>
              <a:rPr lang="en-US" sz="2199" spc="-43">
                <a:solidFill>
                  <a:srgbClr val="D5D5D5"/>
                </a:solidFill>
                <a:latin typeface="Poppins"/>
                <a:ea typeface="Poppins"/>
                <a:cs typeface="Poppins"/>
                <a:sym typeface="Poppins"/>
              </a:rPr>
              <a:t xml:space="preserve">Esto indica una </a:t>
            </a:r>
          </a:p>
          <a:p>
            <a:pPr algn="l">
              <a:lnSpc>
                <a:spcPts val="2199"/>
              </a:lnSpc>
            </a:pPr>
            <a:r>
              <a:rPr lang="en-US" sz="2199" spc="-43">
                <a:solidFill>
                  <a:srgbClr val="D5D5D5"/>
                </a:solidFill>
                <a:latin typeface="Poppins"/>
                <a:ea typeface="Poppins"/>
                <a:cs typeface="Poppins"/>
                <a:sym typeface="Poppins"/>
              </a:rPr>
              <a:t xml:space="preserve">transición de </a:t>
            </a:r>
          </a:p>
          <a:p>
            <a:pPr algn="l">
              <a:lnSpc>
                <a:spcPts val="2199"/>
              </a:lnSpc>
            </a:pPr>
            <a:r>
              <a:rPr lang="en-US" sz="2199" spc="-43">
                <a:solidFill>
                  <a:srgbClr val="D5D5D5"/>
                </a:solidFill>
                <a:latin typeface="Poppins"/>
                <a:ea typeface="Poppins"/>
                <a:cs typeface="Poppins"/>
                <a:sym typeface="Poppins"/>
              </a:rPr>
              <a:t xml:space="preserve">dependencia </a:t>
            </a:r>
          </a:p>
          <a:p>
            <a:pPr algn="l">
              <a:lnSpc>
                <a:spcPts val="2199"/>
              </a:lnSpc>
            </a:pPr>
            <a:r>
              <a:rPr lang="en-US" sz="2199" spc="-43">
                <a:solidFill>
                  <a:srgbClr val="D5D5D5"/>
                </a:solidFill>
                <a:latin typeface="Poppins"/>
                <a:ea typeface="Poppins"/>
                <a:cs typeface="Poppins"/>
                <a:sym typeface="Poppins"/>
              </a:rPr>
              <a:t xml:space="preserve">financiera </a:t>
            </a:r>
          </a:p>
          <a:p>
            <a:pPr algn="l">
              <a:lnSpc>
                <a:spcPts val="2199"/>
              </a:lnSpc>
            </a:pPr>
            <a:r>
              <a:rPr lang="en-US" sz="2199" spc="-43">
                <a:solidFill>
                  <a:srgbClr val="D5D5D5"/>
                </a:solidFill>
                <a:latin typeface="Poppins"/>
                <a:ea typeface="Poppins"/>
                <a:cs typeface="Poppins"/>
                <a:sym typeface="Poppins"/>
              </a:rPr>
              <a:t xml:space="preserve">familiar a </a:t>
            </a:r>
          </a:p>
          <a:p>
            <a:pPr algn="l">
              <a:lnSpc>
                <a:spcPts val="2199"/>
              </a:lnSpc>
            </a:pPr>
            <a:r>
              <a:rPr lang="en-US" sz="2199" spc="-43">
                <a:solidFill>
                  <a:srgbClr val="D5D5D5"/>
                </a:solidFill>
                <a:latin typeface="Poppins"/>
                <a:ea typeface="Poppins"/>
                <a:cs typeface="Poppins"/>
                <a:sym typeface="Poppins"/>
              </a:rPr>
              <a:t>autonomía,</a:t>
            </a:r>
          </a:p>
          <a:p>
            <a:pPr algn="l">
              <a:lnSpc>
                <a:spcPts val="2199"/>
              </a:lnSpc>
            </a:pPr>
            <a:r>
              <a:rPr lang="en-US" sz="2199" spc="-43">
                <a:solidFill>
                  <a:srgbClr val="D5D5D5"/>
                </a:solidFill>
                <a:latin typeface="Poppins"/>
                <a:ea typeface="Poppins"/>
                <a:cs typeface="Poppins"/>
                <a:sym typeface="Poppins"/>
              </a:rPr>
              <a:t xml:space="preserve"> donde los </a:t>
            </a:r>
          </a:p>
          <a:p>
            <a:pPr algn="l">
              <a:lnSpc>
                <a:spcPts val="2199"/>
              </a:lnSpc>
            </a:pPr>
            <a:r>
              <a:rPr lang="en-US" sz="2199" spc="-43">
                <a:solidFill>
                  <a:srgbClr val="D5D5D5"/>
                </a:solidFill>
                <a:latin typeface="Poppins"/>
                <a:ea typeface="Poppins"/>
                <a:cs typeface="Poppins"/>
                <a:sym typeface="Poppins"/>
              </a:rPr>
              <a:t xml:space="preserve">estudiantes </a:t>
            </a:r>
          </a:p>
          <a:p>
            <a:pPr algn="l">
              <a:lnSpc>
                <a:spcPts val="2199"/>
              </a:lnSpc>
            </a:pPr>
            <a:r>
              <a:rPr lang="en-US" sz="2199" spc="-43">
                <a:solidFill>
                  <a:srgbClr val="D5D5D5"/>
                </a:solidFill>
                <a:latin typeface="Poppins"/>
                <a:ea typeface="Poppins"/>
                <a:cs typeface="Poppins"/>
                <a:sym typeface="Poppins"/>
              </a:rPr>
              <a:t xml:space="preserve">cambian a </a:t>
            </a:r>
          </a:p>
          <a:p>
            <a:pPr algn="l">
              <a:lnSpc>
                <a:spcPts val="2199"/>
              </a:lnSpc>
            </a:pPr>
            <a:r>
              <a:rPr lang="en-US" sz="2199" spc="-43">
                <a:solidFill>
                  <a:srgbClr val="D5D5D5"/>
                </a:solidFill>
                <a:latin typeface="Poppins"/>
                <a:ea typeface="Poppins"/>
                <a:cs typeface="Poppins"/>
                <a:sym typeface="Poppins"/>
              </a:rPr>
              <a:t>prepago al</a:t>
            </a:r>
          </a:p>
          <a:p>
            <a:pPr algn="l">
              <a:lnSpc>
                <a:spcPts val="2199"/>
              </a:lnSpc>
            </a:pPr>
            <a:r>
              <a:rPr lang="en-US" sz="2199" spc="-43">
                <a:solidFill>
                  <a:srgbClr val="D5D5D5"/>
                </a:solidFill>
                <a:latin typeface="Poppins"/>
                <a:ea typeface="Poppins"/>
                <a:cs typeface="Poppins"/>
                <a:sym typeface="Poppins"/>
              </a:rPr>
              <a:t xml:space="preserve"> empezar a </a:t>
            </a:r>
          </a:p>
          <a:p>
            <a:pPr algn="l">
              <a:lnSpc>
                <a:spcPts val="2199"/>
              </a:lnSpc>
            </a:pPr>
            <a:r>
              <a:rPr lang="en-US" sz="2199" spc="-43">
                <a:solidFill>
                  <a:srgbClr val="D5D5D5"/>
                </a:solidFill>
                <a:latin typeface="Poppins"/>
                <a:ea typeface="Poppins"/>
                <a:cs typeface="Poppins"/>
                <a:sym typeface="Poppins"/>
              </a:rPr>
              <a:t>costearse solos.</a:t>
            </a:r>
          </a:p>
          <a:p>
            <a:pPr algn="l">
              <a:lnSpc>
                <a:spcPts val="2199"/>
              </a:lnSpc>
            </a:pP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1028700" y="690244"/>
            <a:ext cx="15313181" cy="6086475"/>
          </a:xfrm>
          <a:prstGeom prst="rect">
            <a:avLst/>
          </a:prstGeom>
        </p:spPr>
        <p:txBody>
          <a:bodyPr anchor="t" rtlCol="false" tIns="0" lIns="0" bIns="0" rIns="0">
            <a:spAutoFit/>
          </a:bodyPr>
          <a:lstStyle/>
          <a:p>
            <a:pPr algn="l">
              <a:lnSpc>
                <a:spcPts val="21600"/>
              </a:lnSpc>
            </a:pPr>
            <a:r>
              <a:rPr lang="en-US" b="true" sz="27000" spc="-2808">
                <a:solidFill>
                  <a:srgbClr val="D5D5D5"/>
                </a:solidFill>
                <a:latin typeface="Poppins Ultra-Bold"/>
                <a:ea typeface="Poppins Ultra-Bold"/>
                <a:cs typeface="Poppins Ultra-Bold"/>
                <a:sym typeface="Poppins Ultra-Bold"/>
              </a:rPr>
              <a:t>CONCLUSION</a:t>
            </a:r>
          </a:p>
        </p:txBody>
      </p:sp>
      <p:sp>
        <p:nvSpPr>
          <p:cNvPr name="TextBox 3" id="3"/>
          <p:cNvSpPr txBox="true"/>
          <p:nvPr/>
        </p:nvSpPr>
        <p:spPr>
          <a:xfrm rot="0">
            <a:off x="10369807" y="3498731"/>
            <a:ext cx="6889493" cy="2237105"/>
          </a:xfrm>
          <a:prstGeom prst="rect">
            <a:avLst/>
          </a:prstGeom>
        </p:spPr>
        <p:txBody>
          <a:bodyPr anchor="t" rtlCol="false" tIns="0" lIns="0" bIns="0" rIns="0">
            <a:spAutoFit/>
          </a:bodyPr>
          <a:lstStyle/>
          <a:p>
            <a:pPr algn="l" marL="474979" indent="-237490" lvl="1">
              <a:lnSpc>
                <a:spcPts val="2199"/>
              </a:lnSpc>
              <a:buFont typeface="Arial"/>
              <a:buChar char="•"/>
            </a:pPr>
            <a:r>
              <a:rPr lang="en-US" sz="2199" spc="-43">
                <a:solidFill>
                  <a:srgbClr val="D5D5D5"/>
                </a:solidFill>
                <a:latin typeface="Poppins"/>
                <a:ea typeface="Poppins"/>
                <a:cs typeface="Poppins"/>
                <a:sym typeface="Poppins"/>
              </a:rPr>
              <a:t>Samsung y Apple dominan el mercado (~60%) con distribución homogénea entre géneros y carreras.</a:t>
            </a:r>
          </a:p>
          <a:p>
            <a:pPr algn="l" marL="474979" indent="-237490" lvl="1">
              <a:lnSpc>
                <a:spcPts val="2199"/>
              </a:lnSpc>
              <a:buFont typeface="Arial"/>
              <a:buChar char="•"/>
            </a:pPr>
            <a:r>
              <a:rPr lang="en-US" sz="2199" spc="-43">
                <a:solidFill>
                  <a:srgbClr val="D5D5D5"/>
                </a:solidFill>
                <a:latin typeface="Poppins"/>
                <a:ea typeface="Poppins"/>
                <a:cs typeface="Poppins"/>
                <a:sym typeface="Poppins"/>
              </a:rPr>
              <a:t>La Edad es simétrica (CV=8.5%) y la Capacidad tiene fuerte sesgo positivo (CV=80.3%).</a:t>
            </a:r>
          </a:p>
          <a:p>
            <a:pPr algn="l" marL="474979" indent="-237490" lvl="1">
              <a:lnSpc>
                <a:spcPts val="2199"/>
              </a:lnSpc>
              <a:buFont typeface="Arial"/>
              <a:buChar char="•"/>
            </a:pPr>
            <a:r>
              <a:rPr lang="en-US" sz="2199" spc="-43">
                <a:solidFill>
                  <a:srgbClr val="D5D5D5"/>
                </a:solidFill>
                <a:latin typeface="Poppins"/>
                <a:ea typeface="Poppins"/>
                <a:cs typeface="Poppins"/>
                <a:sym typeface="Poppins"/>
              </a:rPr>
              <a:t>Correlación Edad–Semestre (r=0.600) valida trayectorias académicas regulares.</a:t>
            </a:r>
          </a:p>
          <a:p>
            <a:pPr algn="l">
              <a:lnSpc>
                <a:spcPts val="2199"/>
              </a:lnSpc>
            </a:pPr>
          </a:p>
        </p:txBody>
      </p:sp>
      <p:sp>
        <p:nvSpPr>
          <p:cNvPr name="TextBox 4" id="4"/>
          <p:cNvSpPr txBox="true"/>
          <p:nvPr/>
        </p:nvSpPr>
        <p:spPr>
          <a:xfrm rot="0">
            <a:off x="14414173" y="1057275"/>
            <a:ext cx="2845127" cy="349250"/>
          </a:xfrm>
          <a:prstGeom prst="rect">
            <a:avLst/>
          </a:prstGeom>
        </p:spPr>
        <p:txBody>
          <a:bodyPr anchor="t" rtlCol="false" tIns="0" lIns="0" bIns="0" rIns="0">
            <a:spAutoFit/>
          </a:bodyPr>
          <a:lstStyle/>
          <a:p>
            <a:pPr algn="r">
              <a:lnSpc>
                <a:spcPts val="2499"/>
              </a:lnSpc>
            </a:pPr>
            <a:r>
              <a:rPr lang="en-US" sz="2499" spc="-149">
                <a:solidFill>
                  <a:srgbClr val="D5D5D5"/>
                </a:solidFill>
                <a:latin typeface="Poppins"/>
                <a:ea typeface="Poppins"/>
                <a:cs typeface="Poppins"/>
                <a:sym typeface="Poppins"/>
              </a:rPr>
              <a:t>37</a:t>
            </a:r>
          </a:p>
        </p:txBody>
      </p:sp>
      <p:sp>
        <p:nvSpPr>
          <p:cNvPr name="TextBox 5" id="5"/>
          <p:cNvSpPr txBox="true"/>
          <p:nvPr/>
        </p:nvSpPr>
        <p:spPr>
          <a:xfrm rot="0">
            <a:off x="6180082" y="4225291"/>
            <a:ext cx="4329491" cy="918209"/>
          </a:xfrm>
          <a:prstGeom prst="rect">
            <a:avLst/>
          </a:prstGeom>
        </p:spPr>
        <p:txBody>
          <a:bodyPr anchor="t" rtlCol="false" tIns="0" lIns="0" bIns="0" rIns="0">
            <a:spAutoFit/>
          </a:bodyPr>
          <a:lstStyle/>
          <a:p>
            <a:pPr algn="l">
              <a:lnSpc>
                <a:spcPts val="2399"/>
              </a:lnSpc>
            </a:pPr>
            <a:r>
              <a:rPr lang="en-US" sz="2399" spc="-47" b="true">
                <a:solidFill>
                  <a:srgbClr val="D5D5D5"/>
                </a:solidFill>
                <a:latin typeface="Poppins Bold"/>
                <a:ea typeface="Poppins Bold"/>
                <a:cs typeface="Poppins Bold"/>
                <a:sym typeface="Poppins Bold"/>
              </a:rPr>
              <a:t>Hallazgos convencionales (confirmados):</a:t>
            </a:r>
          </a:p>
          <a:p>
            <a:pPr algn="l">
              <a:lnSpc>
                <a:spcPts val="2399"/>
              </a:lnSpc>
            </a:pPr>
          </a:p>
        </p:txBody>
      </p:sp>
      <p:sp>
        <p:nvSpPr>
          <p:cNvPr name="TextBox 6" id="6"/>
          <p:cNvSpPr txBox="true"/>
          <p:nvPr/>
        </p:nvSpPr>
        <p:spPr>
          <a:xfrm rot="0">
            <a:off x="2086930" y="7054533"/>
            <a:ext cx="4329491" cy="918209"/>
          </a:xfrm>
          <a:prstGeom prst="rect">
            <a:avLst/>
          </a:prstGeom>
        </p:spPr>
        <p:txBody>
          <a:bodyPr anchor="t" rtlCol="false" tIns="0" lIns="0" bIns="0" rIns="0">
            <a:spAutoFit/>
          </a:bodyPr>
          <a:lstStyle/>
          <a:p>
            <a:pPr algn="l">
              <a:lnSpc>
                <a:spcPts val="2399"/>
              </a:lnSpc>
            </a:pPr>
            <a:r>
              <a:rPr lang="en-US" sz="2399" spc="-47" b="true">
                <a:solidFill>
                  <a:srgbClr val="D5D5D5"/>
                </a:solidFill>
                <a:latin typeface="Poppins Bold"/>
                <a:ea typeface="Poppins Bold"/>
                <a:cs typeface="Poppins Bold"/>
                <a:sym typeface="Poppins Bold"/>
              </a:rPr>
              <a:t>Hallazgos profundos (no evidentes):</a:t>
            </a:r>
          </a:p>
          <a:p>
            <a:pPr algn="l">
              <a:lnSpc>
                <a:spcPts val="2399"/>
              </a:lnSpc>
            </a:pPr>
          </a:p>
        </p:txBody>
      </p:sp>
      <p:sp>
        <p:nvSpPr>
          <p:cNvPr name="TextBox 7" id="7"/>
          <p:cNvSpPr txBox="true"/>
          <p:nvPr/>
        </p:nvSpPr>
        <p:spPr>
          <a:xfrm rot="0">
            <a:off x="5859372" y="5749925"/>
            <a:ext cx="11399928" cy="3508375"/>
          </a:xfrm>
          <a:prstGeom prst="rect">
            <a:avLst/>
          </a:prstGeom>
        </p:spPr>
        <p:txBody>
          <a:bodyPr anchor="t" rtlCol="false" tIns="0" lIns="0" bIns="0" rIns="0">
            <a:spAutoFit/>
          </a:bodyPr>
          <a:lstStyle/>
          <a:p>
            <a:pPr algn="l" marL="431801" indent="-215900" lvl="1">
              <a:lnSpc>
                <a:spcPts val="2000"/>
              </a:lnSpc>
              <a:buFont typeface="Arial"/>
              <a:buChar char="•"/>
            </a:pPr>
            <a:r>
              <a:rPr lang="en-US" sz="2000" spc="-40">
                <a:solidFill>
                  <a:srgbClr val="D5D5D5"/>
                </a:solidFill>
                <a:latin typeface="Poppins"/>
                <a:ea typeface="Poppins"/>
                <a:cs typeface="Poppins"/>
                <a:sym typeface="Poppins"/>
              </a:rPr>
              <a:t>Los de Xiaomi y Motorola se quieren ir: Xiaomi (-45 netos) y Motorola (-24 netos) son marcas temporales. Son marcas temporales mientras pueden comprar algo mejor.</a:t>
            </a:r>
          </a:p>
          <a:p>
            <a:pPr algn="l" marL="431801" indent="-215900" lvl="1">
              <a:lnSpc>
                <a:spcPts val="2000"/>
              </a:lnSpc>
              <a:buFont typeface="Arial"/>
              <a:buChar char="•"/>
            </a:pPr>
            <a:r>
              <a:rPr lang="en-US" sz="2000" spc="-40">
                <a:solidFill>
                  <a:srgbClr val="D5D5D5"/>
                </a:solidFill>
                <a:latin typeface="Poppins"/>
                <a:ea typeface="Poppins"/>
                <a:cs typeface="Poppins"/>
                <a:sym typeface="Poppins"/>
              </a:rPr>
              <a:t>Los atrasados trabajan al doble (57.7% vs 30.5%) pero no tienen mejor teléfono: trabajan al doble (57.7% vs 30.5%) pero no mejoran su tecnología. El empleo es por necesidad, no por oportunidad.</a:t>
            </a:r>
          </a:p>
          <a:p>
            <a:pPr algn="l" marL="431801" indent="-215900" lvl="1">
              <a:lnSpc>
                <a:spcPts val="2000"/>
              </a:lnSpc>
              <a:buFont typeface="Arial"/>
              <a:buChar char="•"/>
            </a:pPr>
            <a:r>
              <a:rPr lang="en-US" sz="2000" spc="-40">
                <a:solidFill>
                  <a:srgbClr val="D5D5D5"/>
                </a:solidFill>
                <a:latin typeface="Poppins"/>
                <a:ea typeface="Poppins"/>
                <a:cs typeface="Poppins"/>
                <a:sym typeface="Poppins"/>
              </a:rPr>
              <a:t>Apple tiene 20% de segund</a:t>
            </a:r>
            <a:r>
              <a:rPr lang="en-US" sz="2000" spc="-40">
                <a:solidFill>
                  <a:srgbClr val="D5D5D5"/>
                </a:solidFill>
                <a:latin typeface="Poppins"/>
                <a:ea typeface="Poppins"/>
                <a:cs typeface="Poppins"/>
                <a:sym typeface="Poppins"/>
              </a:rPr>
              <a:t>a mano: 20% de iPhones son de segunda mano, creando un canal de entrada único que ninguna otra marca replica.</a:t>
            </a:r>
          </a:p>
          <a:p>
            <a:pPr algn="l" marL="431801" indent="-215900" lvl="1">
              <a:lnSpc>
                <a:spcPts val="2000"/>
              </a:lnSpc>
              <a:buFont typeface="Arial"/>
              <a:buChar char="•"/>
            </a:pPr>
            <a:r>
              <a:rPr lang="en-US" sz="2000" spc="-40">
                <a:solidFill>
                  <a:srgbClr val="D5D5D5"/>
                </a:solidFill>
                <a:latin typeface="Poppins"/>
                <a:ea typeface="Poppins"/>
                <a:cs typeface="Poppins"/>
                <a:sym typeface="Poppins"/>
              </a:rPr>
              <a:t>Tener hermanos: hijos únicos tienen 23% más capacidad. La variable "hermanos" codifica información económica no capturada directamente.</a:t>
            </a:r>
          </a:p>
          <a:p>
            <a:pPr algn="l" marL="431801" indent="-215900" lvl="1">
              <a:lnSpc>
                <a:spcPts val="2000"/>
              </a:lnSpc>
              <a:buFont typeface="Arial"/>
              <a:buChar char="•"/>
            </a:pPr>
            <a:r>
              <a:rPr lang="en-US" sz="2000" spc="-40">
                <a:solidFill>
                  <a:srgbClr val="D5D5D5"/>
                </a:solidFill>
                <a:latin typeface="Poppins"/>
                <a:ea typeface="Poppins"/>
                <a:cs typeface="Poppins"/>
                <a:sym typeface="Poppins"/>
              </a:rPr>
              <a:t>Irregulares premium: 44.8% vs 38.6%, invirtiendo la intuición sobre rendimiento académico y nivel económico.</a:t>
            </a:r>
          </a:p>
          <a:p>
            <a:pPr algn="l" marL="431801" indent="-215900" lvl="1">
              <a:lnSpc>
                <a:spcPts val="2000"/>
              </a:lnSpc>
              <a:buFont typeface="Arial"/>
              <a:buChar char="•"/>
            </a:pPr>
            <a:r>
              <a:rPr lang="en-US" sz="2000" spc="-40">
                <a:solidFill>
                  <a:srgbClr val="D5D5D5"/>
                </a:solidFill>
                <a:latin typeface="Poppins"/>
                <a:ea typeface="Poppins"/>
                <a:cs typeface="Poppins"/>
                <a:sym typeface="Poppins"/>
              </a:rPr>
              <a:t>Semestre 6 es donde más trabajan y menos plan tienen: pico de empleo + valle de plan contratado = transición de dependencia familiar a autonomía financiera.</a:t>
            </a:r>
          </a:p>
          <a:p>
            <a:pPr algn="l">
              <a:lnSpc>
                <a:spcPts val="2000"/>
              </a:lnSpc>
            </a:pP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292048" y="-137409"/>
            <a:ext cx="15313181" cy="8270278"/>
          </a:xfrm>
          <a:prstGeom prst="rect">
            <a:avLst/>
          </a:prstGeom>
        </p:spPr>
        <p:txBody>
          <a:bodyPr anchor="t" rtlCol="false" tIns="0" lIns="0" bIns="0" rIns="0">
            <a:spAutoFit/>
          </a:bodyPr>
          <a:lstStyle/>
          <a:p>
            <a:pPr algn="l">
              <a:lnSpc>
                <a:spcPts val="29414"/>
              </a:lnSpc>
            </a:pPr>
            <a:r>
              <a:rPr lang="en-US" b="true" sz="36768" spc="-3823">
                <a:solidFill>
                  <a:srgbClr val="D5D5D5"/>
                </a:solidFill>
                <a:latin typeface="Poppins Ultra-Bold"/>
                <a:ea typeface="Poppins Ultra-Bold"/>
                <a:cs typeface="Poppins Ultra-Bold"/>
                <a:sym typeface="Poppins Ultra-Bold"/>
              </a:rPr>
              <a:t>GRACIAS.</a:t>
            </a:r>
          </a:p>
        </p:txBody>
      </p:sp>
      <p:sp>
        <p:nvSpPr>
          <p:cNvPr name="TextBox 3" id="3"/>
          <p:cNvSpPr txBox="true"/>
          <p:nvPr/>
        </p:nvSpPr>
        <p:spPr>
          <a:xfrm rot="0">
            <a:off x="10858697" y="4178102"/>
            <a:ext cx="8324871" cy="6772275"/>
          </a:xfrm>
          <a:prstGeom prst="rect">
            <a:avLst/>
          </a:prstGeom>
        </p:spPr>
        <p:txBody>
          <a:bodyPr anchor="t" rtlCol="false" tIns="0" lIns="0" bIns="0" rIns="0">
            <a:spAutoFit/>
          </a:bodyPr>
          <a:lstStyle/>
          <a:p>
            <a:pPr algn="l">
              <a:lnSpc>
                <a:spcPts val="24000"/>
              </a:lnSpc>
            </a:pPr>
            <a:r>
              <a:rPr lang="en-US" b="true" sz="30000" spc="-3120">
                <a:solidFill>
                  <a:srgbClr val="D5D5D5"/>
                </a:solidFill>
                <a:latin typeface="Poppins Ultra-Bold"/>
                <a:ea typeface="Poppins Ultra-Bold"/>
                <a:cs typeface="Poppins Ultra-Bold"/>
                <a:sym typeface="Poppins Ultra-Bold"/>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DAHGnKzxT9c</dc:identifier>
  <dcterms:modified xsi:type="dcterms:W3CDTF">2011-08-01T06:04:30Z</dcterms:modified>
  <cp:revision>1</cp:revision>
  <dc:title>Black and Gray Minimalist Creative Portfolio Presentation</dc:title>
</cp:coreProperties>
</file>